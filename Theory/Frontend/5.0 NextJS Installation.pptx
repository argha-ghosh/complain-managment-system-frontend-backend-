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6" r:id="rId4"/>
    <p:sldId id="294" r:id="rId5"/>
    <p:sldId id="296" r:id="rId6"/>
    <p:sldId id="311" r:id="rId7"/>
    <p:sldId id="312" r:id="rId8"/>
    <p:sldId id="313" r:id="rId9"/>
    <p:sldId id="297" r:id="rId10"/>
    <p:sldId id="314" r:id="rId11"/>
    <p:sldId id="315" r:id="rId12"/>
    <p:sldId id="319" r:id="rId13"/>
    <p:sldId id="265" r:id="rId14"/>
    <p:sldId id="29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03" autoAdjust="0"/>
    <p:restoredTop sz="86381" autoAdjust="0"/>
  </p:normalViewPr>
  <p:slideViewPr>
    <p:cSldViewPr snapToGrid="0">
      <p:cViewPr varScale="1">
        <p:scale>
          <a:sx n="67" d="100"/>
          <a:sy n="67" d="100"/>
        </p:scale>
        <p:origin x="106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01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19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localhost:3000/posts/first-post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eveloper.mozilla.org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05" y="444291"/>
            <a:ext cx="7808976" cy="1088136"/>
          </a:xfrm>
        </p:spPr>
        <p:txBody>
          <a:bodyPr>
            <a:normAutofit/>
          </a:bodyPr>
          <a:lstStyle/>
          <a:p>
            <a:pPr algn="l"/>
            <a:r>
              <a:rPr lang="en-US" sz="2800" dirty="0" err="1"/>
              <a:t>NextJs</a:t>
            </a:r>
            <a:r>
              <a:rPr lang="en-US" sz="2800" dirty="0"/>
              <a:t> Installation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09069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Creating the first </a:t>
            </a:r>
            <a:r>
              <a:rPr lang="en-US" dirty="0" err="1">
                <a:solidFill>
                  <a:schemeClr val="tx1"/>
                </a:solidFill>
              </a:rPr>
              <a:t>NextJS</a:t>
            </a:r>
            <a:r>
              <a:rPr lang="en-US" dirty="0">
                <a:solidFill>
                  <a:schemeClr val="tx1"/>
                </a:solidFill>
              </a:rPr>
              <a:t> App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Running the App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Changing port address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tx1"/>
                </a:solidFill>
              </a:rPr>
              <a:t>Nextjs</a:t>
            </a:r>
            <a:r>
              <a:rPr lang="en-US" dirty="0">
                <a:solidFill>
                  <a:schemeClr val="tx1"/>
                </a:solidFill>
              </a:rPr>
              <a:t> directory structure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Pages in Next.js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Create a New Page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Link Component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External Links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Image Component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Creating the first </a:t>
            </a:r>
            <a:r>
              <a:rPr lang="en-US" sz="4400" dirty="0" err="1"/>
              <a:t>NextJS</a:t>
            </a:r>
            <a:r>
              <a:rPr lang="en-US" sz="4400" dirty="0"/>
              <a:t> App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66254" y="2192949"/>
            <a:ext cx="8811491" cy="470898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Ensure that Node.js is installed on your computer. You can download it from the official website: </a:t>
            </a:r>
            <a:r>
              <a:rPr lang="en-US" sz="2000" dirty="0">
                <a:hlinkClick r:id="rId3"/>
              </a:rPr>
              <a:t>https://nodejs.org/en/download/</a:t>
            </a:r>
            <a:endParaRPr lang="en-US" sz="2000" dirty="0"/>
          </a:p>
          <a:p>
            <a:r>
              <a:rPr lang="en-US" sz="2000" dirty="0"/>
              <a:t>Open the terminal/command prompt and navigate to the directory where you want to create your Next.js project.</a:t>
            </a:r>
          </a:p>
          <a:p>
            <a:r>
              <a:rPr lang="en-US" sz="2000" dirty="0"/>
              <a:t>Run the following command to create a new Next.js project: </a:t>
            </a:r>
          </a:p>
          <a:p>
            <a:pPr marL="0" indent="0">
              <a:buNone/>
            </a:pPr>
            <a:r>
              <a:rPr lang="en-US" sz="2000" b="1" dirty="0" err="1">
                <a:highlight>
                  <a:srgbClr val="00FF00"/>
                </a:highlight>
              </a:rPr>
              <a:t>npx</a:t>
            </a:r>
            <a:r>
              <a:rPr lang="en-US" sz="2000" b="1" dirty="0">
                <a:highlight>
                  <a:srgbClr val="00FF00"/>
                </a:highlight>
              </a:rPr>
              <a:t> </a:t>
            </a:r>
            <a:r>
              <a:rPr lang="en-US" sz="2000" b="1" dirty="0" err="1">
                <a:highlight>
                  <a:srgbClr val="00FF00"/>
                </a:highlight>
              </a:rPr>
              <a:t>create-next-app@latest</a:t>
            </a:r>
            <a:endParaRPr lang="en-US" sz="2000" b="1" dirty="0">
              <a:highlight>
                <a:srgbClr val="00FF00"/>
              </a:highlight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√ What is your project named? ... nextjs14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√ Would you like to use TypeScript? ... No / </a:t>
            </a:r>
            <a:r>
              <a:rPr lang="en-US" sz="2000" b="1" dirty="0">
                <a:highlight>
                  <a:srgbClr val="FFFF00"/>
                </a:highlight>
              </a:rPr>
              <a:t>Yes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√ Would you like to use </a:t>
            </a:r>
            <a:r>
              <a:rPr lang="en-US" sz="2000" dirty="0" err="1">
                <a:highlight>
                  <a:srgbClr val="FFFF00"/>
                </a:highlight>
              </a:rPr>
              <a:t>ESLint</a:t>
            </a:r>
            <a:r>
              <a:rPr lang="en-US" sz="2000" dirty="0">
                <a:highlight>
                  <a:srgbClr val="FFFF00"/>
                </a:highlight>
              </a:rPr>
              <a:t>? ... </a:t>
            </a:r>
            <a:r>
              <a:rPr lang="en-US" sz="2000" b="1" dirty="0">
                <a:highlight>
                  <a:srgbClr val="FFFF00"/>
                </a:highlight>
              </a:rPr>
              <a:t>No</a:t>
            </a:r>
            <a:r>
              <a:rPr lang="en-US" sz="2000" dirty="0">
                <a:highlight>
                  <a:srgbClr val="FFFF00"/>
                </a:highlight>
              </a:rPr>
              <a:t> / Yes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√ Would you like to use Tailwind CSS? ... No / </a:t>
            </a:r>
            <a:r>
              <a:rPr lang="en-US" sz="2000" b="1" dirty="0">
                <a:highlight>
                  <a:srgbClr val="FFFF00"/>
                </a:highlight>
              </a:rPr>
              <a:t>Yes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√ Would you like to use `</a:t>
            </a:r>
            <a:r>
              <a:rPr lang="en-US" sz="2000" dirty="0" err="1">
                <a:highlight>
                  <a:srgbClr val="FFFF00"/>
                </a:highlight>
              </a:rPr>
              <a:t>src</a:t>
            </a:r>
            <a:r>
              <a:rPr lang="en-US" sz="2000" dirty="0">
                <a:highlight>
                  <a:srgbClr val="FFFF00"/>
                </a:highlight>
              </a:rPr>
              <a:t>/` directory? ... </a:t>
            </a:r>
            <a:r>
              <a:rPr lang="en-US" sz="2000" b="1" dirty="0">
                <a:highlight>
                  <a:srgbClr val="FFFF00"/>
                </a:highlight>
              </a:rPr>
              <a:t>No</a:t>
            </a:r>
            <a:r>
              <a:rPr lang="en-US" sz="2000" dirty="0">
                <a:highlight>
                  <a:srgbClr val="FFFF00"/>
                </a:highlight>
              </a:rPr>
              <a:t> / Yes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√ Would you like to use App Router? (recommended) ... No / </a:t>
            </a:r>
            <a:r>
              <a:rPr lang="en-US" sz="2000" b="1" dirty="0">
                <a:highlight>
                  <a:srgbClr val="FFFF00"/>
                </a:highlight>
              </a:rPr>
              <a:t>Yes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√ Would you like to customize the default import alias (@/*)? ... </a:t>
            </a:r>
            <a:r>
              <a:rPr lang="en-US" sz="2000" b="1" dirty="0">
                <a:highlight>
                  <a:srgbClr val="FFFF00"/>
                </a:highlight>
              </a:rPr>
              <a:t>No</a:t>
            </a:r>
            <a:r>
              <a:rPr lang="en-US" sz="2000" dirty="0">
                <a:highlight>
                  <a:srgbClr val="FFFF00"/>
                </a:highlight>
              </a:rPr>
              <a:t> / Yes</a:t>
            </a:r>
          </a:p>
          <a:p>
            <a:pPr marL="0" indent="0">
              <a:buNone/>
            </a:pPr>
            <a:endParaRPr lang="en-US" sz="2000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**</a:t>
            </a:r>
            <a:r>
              <a:rPr lang="en-US" sz="20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Nextjs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 14 requires  Nodejs  v18.17.0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</a:rPr>
              <a:t>Running the App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742E8C-EE49-404E-10C1-CB20CBC449E9}"/>
              </a:ext>
            </a:extLst>
          </p:cNvPr>
          <p:cNvSpPr txBox="1">
            <a:spLocks/>
          </p:cNvSpPr>
          <p:nvPr/>
        </p:nvSpPr>
        <p:spPr>
          <a:xfrm>
            <a:off x="421341" y="2024738"/>
            <a:ext cx="7808976" cy="434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Go to your project folder and execute following command; </a:t>
            </a:r>
          </a:p>
          <a:p>
            <a:r>
              <a:rPr lang="en-US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npm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 run dev</a:t>
            </a:r>
          </a:p>
          <a:p>
            <a:r>
              <a:rPr lang="en-US" sz="2800" dirty="0">
                <a:solidFill>
                  <a:schemeClr val="tx1"/>
                </a:solidFill>
              </a:rPr>
              <a:t>Open the browser and write </a:t>
            </a:r>
          </a:p>
          <a:p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http://localhost:3000</a:t>
            </a:r>
          </a:p>
        </p:txBody>
      </p:sp>
    </p:spTree>
    <p:extLst>
      <p:ext uri="{BB962C8B-B14F-4D97-AF65-F5344CB8AC3E}">
        <p14:creationId xmlns:p14="http://schemas.microsoft.com/office/powerpoint/2010/main" val="343590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Changing port address</a:t>
            </a:r>
            <a:endParaRPr lang="en-US" sz="3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263238" y="2155370"/>
            <a:ext cx="8880762" cy="173082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0" i="0" dirty="0">
                <a:effectLst/>
              </a:rPr>
              <a:t>Open your Next.js project in your code editor or IDE.</a:t>
            </a:r>
          </a:p>
          <a:p>
            <a:pPr marL="0" indent="0">
              <a:buNone/>
            </a:pPr>
            <a:r>
              <a:rPr lang="en-US" sz="2000" b="0" i="0" dirty="0">
                <a:effectLst/>
              </a:rPr>
              <a:t>Locate the </a:t>
            </a:r>
            <a:r>
              <a:rPr lang="en-US" sz="2000" b="1" i="0" dirty="0" err="1">
                <a:effectLst/>
              </a:rPr>
              <a:t>package.json</a:t>
            </a:r>
            <a:r>
              <a:rPr lang="en-US" sz="2000" b="1" i="0" dirty="0">
                <a:effectLst/>
              </a:rPr>
              <a:t> </a:t>
            </a:r>
            <a:r>
              <a:rPr lang="en-US" sz="2000" b="0" i="0" dirty="0">
                <a:effectLst/>
              </a:rPr>
              <a:t>file in the root directory of your project.</a:t>
            </a:r>
          </a:p>
          <a:p>
            <a:pPr marL="0" indent="0">
              <a:buNone/>
            </a:pPr>
            <a:r>
              <a:rPr lang="en-US" sz="2000" b="0" i="0" dirty="0">
                <a:effectLst/>
              </a:rPr>
              <a:t>Add the --port flag followed by the desired port number to the start script in the "scripts" section of the </a:t>
            </a:r>
            <a:r>
              <a:rPr lang="en-US" sz="2000" b="0" i="0" dirty="0" err="1">
                <a:effectLst/>
              </a:rPr>
              <a:t>package.json</a:t>
            </a:r>
            <a:r>
              <a:rPr lang="en-US" sz="2000" b="0" i="0" dirty="0">
                <a:effectLst/>
              </a:rPr>
              <a:t> file. For example, to set the port to 7000, the "start“ and “dev” script would look like this: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A8DB95-4EFE-3100-5A95-B01A1ECD3A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90" r="10643" b="-2"/>
          <a:stretch/>
        </p:blipFill>
        <p:spPr>
          <a:xfrm>
            <a:off x="2204357" y="3886199"/>
            <a:ext cx="4735285" cy="2755838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9204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Nextjs</a:t>
            </a:r>
            <a:r>
              <a:rPr lang="en-US" sz="3600" dirty="0"/>
              <a:t> directory structure </a:t>
            </a:r>
            <a:endParaRPr lang="en-US" sz="3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138548" y="2008911"/>
            <a:ext cx="6733308" cy="483523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b="0" i="0" dirty="0">
                <a:solidFill>
                  <a:srgbClr val="000000"/>
                </a:solidFill>
                <a:effectLst/>
              </a:rPr>
              <a:t>.next/: This is a hidden directory created by Next.js during the build process. It contains the compiled assets and server-side rendered pages of the application.</a:t>
            </a:r>
          </a:p>
          <a:p>
            <a:pPr marL="0" indent="0" algn="l">
              <a:buNone/>
            </a:pPr>
            <a:r>
              <a:rPr lang="en-US" sz="1500" b="0" i="0" dirty="0" err="1">
                <a:solidFill>
                  <a:srgbClr val="000000"/>
                </a:solidFill>
                <a:effectLst/>
              </a:rPr>
              <a:t>node_modules</a:t>
            </a:r>
            <a:r>
              <a:rPr lang="en-US" sz="1500" b="0" i="0" dirty="0">
                <a:solidFill>
                  <a:srgbClr val="000000"/>
                </a:solidFill>
                <a:effectLst/>
              </a:rPr>
              <a:t>/: This is a directory that contains all the dependencies installed by </a:t>
            </a:r>
            <a:r>
              <a:rPr lang="en-US" sz="1500" b="0" i="0" dirty="0" err="1">
                <a:solidFill>
                  <a:srgbClr val="000000"/>
                </a:solidFill>
                <a:effectLst/>
              </a:rPr>
              <a:t>npm</a:t>
            </a:r>
            <a:r>
              <a:rPr lang="en-US" sz="1500" b="0" i="0" dirty="0">
                <a:solidFill>
                  <a:srgbClr val="000000"/>
                </a:solidFill>
                <a:effectLst/>
              </a:rPr>
              <a:t> for the project.</a:t>
            </a:r>
          </a:p>
          <a:p>
            <a:pPr marL="0" indent="0" algn="l">
              <a:buNone/>
            </a:pPr>
            <a:r>
              <a:rPr lang="en-US" sz="1500" b="0" i="0" dirty="0">
                <a:solidFill>
                  <a:srgbClr val="000000"/>
                </a:solidFill>
                <a:effectLst/>
              </a:rPr>
              <a:t>pages/: This directory contains Next.js pages that define the routes of your application.</a:t>
            </a:r>
          </a:p>
          <a:p>
            <a:pPr marL="0" indent="0" algn="l">
              <a:buNone/>
            </a:pPr>
            <a:r>
              <a:rPr lang="en-US" sz="1500" b="0" i="0" dirty="0" err="1">
                <a:solidFill>
                  <a:srgbClr val="000000"/>
                </a:solidFill>
                <a:effectLst/>
              </a:rPr>
              <a:t>api</a:t>
            </a:r>
            <a:r>
              <a:rPr lang="en-US" sz="1500" b="0" i="0" dirty="0">
                <a:solidFill>
                  <a:srgbClr val="000000"/>
                </a:solidFill>
                <a:effectLst/>
              </a:rPr>
              <a:t>/: This directory contains API routes that can be called from the client or server.</a:t>
            </a:r>
          </a:p>
          <a:p>
            <a:pPr marL="0" indent="0" algn="l">
              <a:buNone/>
            </a:pPr>
            <a:r>
              <a:rPr lang="en-US" sz="1500" b="0" i="0" dirty="0">
                <a:solidFill>
                  <a:srgbClr val="000000"/>
                </a:solidFill>
                <a:effectLst/>
              </a:rPr>
              <a:t>public/: This directory contains static assets that are served directly to the client, such as images or fonts.</a:t>
            </a:r>
          </a:p>
          <a:p>
            <a:pPr marL="0" indent="0" algn="l">
              <a:buNone/>
            </a:pPr>
            <a:r>
              <a:rPr lang="en-US" sz="1500" b="0" i="0" dirty="0">
                <a:solidFill>
                  <a:srgbClr val="000000"/>
                </a:solidFill>
                <a:effectLst/>
              </a:rPr>
              <a:t>styles/: This directory contains global styles and CSS modules.</a:t>
            </a:r>
          </a:p>
          <a:p>
            <a:pPr marL="0" indent="0" algn="l">
              <a:buNone/>
            </a:pPr>
            <a:r>
              <a:rPr lang="en-US" sz="1500" b="0" i="0" dirty="0">
                <a:solidFill>
                  <a:srgbClr val="000000"/>
                </a:solidFill>
                <a:effectLst/>
              </a:rPr>
              <a:t>.</a:t>
            </a:r>
            <a:r>
              <a:rPr lang="en-US" sz="1500" b="0" i="0" dirty="0" err="1">
                <a:solidFill>
                  <a:srgbClr val="000000"/>
                </a:solidFill>
                <a:effectLst/>
              </a:rPr>
              <a:t>gitignore</a:t>
            </a:r>
            <a:r>
              <a:rPr lang="en-US" sz="1500" b="0" i="0" dirty="0">
                <a:solidFill>
                  <a:srgbClr val="000000"/>
                </a:solidFill>
                <a:effectLst/>
              </a:rPr>
              <a:t>: This file specifies which files and directories should be excluded from version control when using Git.</a:t>
            </a:r>
          </a:p>
          <a:p>
            <a:pPr marL="0" indent="0" algn="l">
              <a:buNone/>
            </a:pPr>
            <a:r>
              <a:rPr lang="en-US" sz="1500" b="0" i="0" dirty="0">
                <a:solidFill>
                  <a:srgbClr val="000000"/>
                </a:solidFill>
                <a:effectLst/>
              </a:rPr>
              <a:t>.</a:t>
            </a:r>
            <a:r>
              <a:rPr lang="en-US" sz="1500" b="0" i="0" dirty="0" err="1">
                <a:solidFill>
                  <a:srgbClr val="000000"/>
                </a:solidFill>
                <a:effectLst/>
              </a:rPr>
              <a:t>prettierrc</a:t>
            </a:r>
            <a:r>
              <a:rPr lang="en-US" sz="1500" b="0" i="0" dirty="0">
                <a:solidFill>
                  <a:srgbClr val="000000"/>
                </a:solidFill>
                <a:effectLst/>
              </a:rPr>
              <a:t>: This is the configuration file for Prettier, a code formatter that can automatically format your code to a consistent style.</a:t>
            </a:r>
          </a:p>
          <a:p>
            <a:pPr marL="0" indent="0" algn="l">
              <a:buNone/>
            </a:pPr>
            <a:r>
              <a:rPr lang="en-US" sz="1500" b="0" i="0" dirty="0">
                <a:solidFill>
                  <a:srgbClr val="000000"/>
                </a:solidFill>
                <a:effectLst/>
              </a:rPr>
              <a:t>next.config.js: This is the configuration file for Next.js. It allows you to customize various aspects of the Next.js build process and development environment.</a:t>
            </a:r>
          </a:p>
          <a:p>
            <a:pPr marL="0" indent="0" algn="l">
              <a:buNone/>
            </a:pPr>
            <a:r>
              <a:rPr lang="en-US" sz="1500" b="0" i="0" dirty="0" err="1">
                <a:solidFill>
                  <a:srgbClr val="000000"/>
                </a:solidFill>
                <a:effectLst/>
              </a:rPr>
              <a:t>package.json</a:t>
            </a:r>
            <a:r>
              <a:rPr lang="en-US" sz="1500" b="0" i="0" dirty="0">
                <a:solidFill>
                  <a:srgbClr val="000000"/>
                </a:solidFill>
                <a:effectLst/>
              </a:rPr>
              <a:t>: This file contains metadata about the project, including its dependencies and scripts.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0B6102-3317-7741-07E1-7A753DDCC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917" y="2008911"/>
            <a:ext cx="2168535" cy="456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4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i="0" dirty="0">
                <a:solidFill>
                  <a:srgbClr val="FFFFFF"/>
                </a:solidFill>
                <a:effectLst/>
                <a:latin typeface="__Inter_4b5723"/>
              </a:rPr>
              <a:t>Pages in Next.js</a:t>
            </a:r>
            <a:endParaRPr lang="en-US" sz="3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B9A0B-C959-940B-C4CD-83B0FF545FE6}"/>
              </a:ext>
            </a:extLst>
          </p:cNvPr>
          <p:cNvSpPr txBox="1"/>
          <p:nvPr/>
        </p:nvSpPr>
        <p:spPr>
          <a:xfrm>
            <a:off x="421341" y="2274838"/>
            <a:ext cx="78089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In Next.js, a page is a React Component exported from a file in the pages directory.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Pages are associated with a route based on their file name</a:t>
            </a:r>
            <a:r>
              <a:rPr lang="en-US" sz="1800" dirty="0"/>
              <a:t>. For example, in development:</a:t>
            </a:r>
          </a:p>
          <a:p>
            <a:endParaRPr lang="en-US" sz="1800" dirty="0"/>
          </a:p>
          <a:p>
            <a:r>
              <a:rPr lang="en-US" sz="1800" dirty="0"/>
              <a:t>pages/index.js is associated with the / route.</a:t>
            </a:r>
          </a:p>
          <a:p>
            <a:r>
              <a:rPr lang="en-US" sz="1800" b="1" dirty="0"/>
              <a:t>pages/posts/first-post.js </a:t>
            </a:r>
            <a:r>
              <a:rPr lang="en-US" sz="1800" dirty="0"/>
              <a:t>is associated with the </a:t>
            </a:r>
            <a:r>
              <a:rPr lang="en-US" sz="1800" b="1" dirty="0"/>
              <a:t>/posts/first-post </a:t>
            </a:r>
            <a:r>
              <a:rPr lang="en-US" sz="1800" dirty="0"/>
              <a:t>route.</a:t>
            </a:r>
          </a:p>
        </p:txBody>
      </p:sp>
    </p:spTree>
    <p:extLst>
      <p:ext uri="{BB962C8B-B14F-4D97-AF65-F5344CB8AC3E}">
        <p14:creationId xmlns:p14="http://schemas.microsoft.com/office/powerpoint/2010/main" val="3417261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Create a New Page</a:t>
            </a:r>
            <a:endParaRPr lang="en-US" sz="3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18463A5-DBC5-2C8A-5F10-CEE19D5E6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341" y="1897548"/>
            <a:ext cx="8445568" cy="28755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357075" rIns="0" bIns="357075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342900" indent="-342900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Create the 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var(--font-mono)"/>
              </a:rPr>
              <a:t>posts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 directory under 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var(--font-mono)"/>
              </a:rPr>
              <a:t>pages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.</a:t>
            </a:r>
            <a:endParaRPr lang="en-US" altLang="en-US" sz="2000" dirty="0">
              <a:latin typeface="+mn-lt"/>
            </a:endParaRPr>
          </a:p>
          <a:p>
            <a:pPr marL="342900" indent="-342900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Create a file called 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var(--font-mono)"/>
              </a:rPr>
              <a:t>first-post.js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 inside the 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var(--font-mono)"/>
              </a:rPr>
              <a:t>posts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 directory with the following content:</a:t>
            </a:r>
          </a:p>
          <a:p>
            <a:pPr marL="342900" indent="-342900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The </a:t>
            </a:r>
            <a:r>
              <a:rPr lang="en-US" altLang="en-US" sz="2000" b="1" dirty="0">
                <a:solidFill>
                  <a:srgbClr val="000000"/>
                </a:solidFill>
                <a:latin typeface="+mn-lt"/>
                <a:ea typeface="__Inter_4b5723"/>
              </a:rPr>
              <a:t>component can have any name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, but you must export it as a 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var(--font-mono)"/>
              </a:rPr>
              <a:t>default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 export.</a:t>
            </a:r>
            <a:endParaRPr lang="en-US" altLang="en-US" sz="2000" dirty="0">
              <a:latin typeface="+mn-lt"/>
            </a:endParaRPr>
          </a:p>
          <a:p>
            <a:pPr marL="342900" indent="-342900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Now, make sure that the development server is running and visit </a:t>
            </a:r>
            <a:r>
              <a:rPr lang="en-US" altLang="en-US" sz="2000" dirty="0">
                <a:solidFill>
                  <a:srgbClr val="0074DE"/>
                </a:solidFill>
                <a:latin typeface="+mn-lt"/>
                <a:ea typeface="__Inter_4b5723"/>
                <a:hlinkClick r:id="rId2"/>
              </a:rPr>
              <a:t>http://localhost:3000/posts/first-post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.</a:t>
            </a:r>
            <a:endParaRPr lang="en-US" altLang="en-US" sz="2000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FFAEB1-9578-31A6-DA3B-C46055452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566" y="4638093"/>
            <a:ext cx="5998859" cy="190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21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Link Component</a:t>
            </a:r>
            <a:endParaRPr lang="en-US" sz="3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42FCA-FC05-4861-8FDD-0C009662A375}"/>
              </a:ext>
            </a:extLst>
          </p:cNvPr>
          <p:cNvSpPr txBox="1"/>
          <p:nvPr/>
        </p:nvSpPr>
        <p:spPr>
          <a:xfrm>
            <a:off x="263235" y="2063865"/>
            <a:ext cx="85898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Next.js, </a:t>
            </a:r>
            <a:r>
              <a:rPr lang="en-US" sz="2400" b="1" dirty="0"/>
              <a:t>Link</a:t>
            </a:r>
            <a:r>
              <a:rPr lang="en-US" sz="2400" dirty="0"/>
              <a:t> Component </a:t>
            </a:r>
            <a:r>
              <a:rPr lang="en-US" sz="2400" b="1" dirty="0"/>
              <a:t>next/link </a:t>
            </a:r>
            <a:r>
              <a:rPr lang="en-US" sz="2400" dirty="0"/>
              <a:t>to link between pages in your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b="1" dirty="0"/>
              <a:t>&lt;Link&gt; </a:t>
            </a:r>
            <a:r>
              <a:rPr lang="en-US" sz="2400" dirty="0"/>
              <a:t>allows </a:t>
            </a:r>
            <a:r>
              <a:rPr lang="en-US" sz="2400" b="1" dirty="0"/>
              <a:t>client-side navigation and accepts props </a:t>
            </a:r>
            <a:r>
              <a:rPr lang="en-US" sz="2400" dirty="0"/>
              <a:t>that give you better control over the navigation behavior.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FC3630-961F-F428-1C01-00E4526FB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540" y="3633525"/>
            <a:ext cx="3700578" cy="299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582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External Links </a:t>
            </a:r>
            <a:endParaRPr lang="en-US" sz="3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7BE6578-C8F9-BF7D-F258-EA29E59DB31A}"/>
              </a:ext>
            </a:extLst>
          </p:cNvPr>
          <p:cNvSpPr txBox="1">
            <a:spLocks/>
          </p:cNvSpPr>
          <p:nvPr/>
        </p:nvSpPr>
        <p:spPr>
          <a:xfrm>
            <a:off x="278425" y="2058338"/>
            <a:ext cx="8463789" cy="461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To create external links in Next.js, we can use a standard HTML anchor tag.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72FE13-E9D8-38F1-59B2-02AAAD249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78" y="2799084"/>
            <a:ext cx="8545643" cy="360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61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Image Component</a:t>
            </a:r>
            <a:endParaRPr lang="en-US" sz="3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97A10-541C-0AFE-5329-FACFF0BE04CC}"/>
              </a:ext>
            </a:extLst>
          </p:cNvPr>
          <p:cNvSpPr txBox="1"/>
          <p:nvPr/>
        </p:nvSpPr>
        <p:spPr>
          <a:xfrm>
            <a:off x="235526" y="2053026"/>
            <a:ext cx="86729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Next.js </a:t>
            </a:r>
            <a:r>
              <a:rPr lang="en-US" dirty="0"/>
              <a:t>Image component</a:t>
            </a:r>
            <a:r>
              <a:rPr lang="en-US" b="1" dirty="0"/>
              <a:t>, next/image</a:t>
            </a:r>
            <a:r>
              <a:rPr lang="en-US" dirty="0"/>
              <a:t>, is an extension of the HTML &lt;</a:t>
            </a:r>
            <a:r>
              <a:rPr lang="en-US" b="1" dirty="0" err="1"/>
              <a:t>img</a:t>
            </a:r>
            <a:r>
              <a:rPr lang="en-US" dirty="0"/>
              <a:t>&gt; element</a:t>
            </a:r>
          </a:p>
          <a:p>
            <a:endParaRPr lang="en-US" dirty="0"/>
          </a:p>
          <a:p>
            <a:r>
              <a:rPr lang="en-US" dirty="0"/>
              <a:t>To add an image to your application, import the next/image component: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64C6D5-B4FF-1E78-B683-2B33F9227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399" y="3264287"/>
            <a:ext cx="5119909" cy="74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374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Image Component</a:t>
            </a:r>
            <a:endParaRPr lang="en-US" sz="3800" dirty="0"/>
          </a:p>
        </p:txBody>
      </p:sp>
      <p:pic>
        <p:nvPicPr>
          <p:cNvPr id="3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0775BEEB-FF56-DB4D-CE07-B897CE165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954" y="2230582"/>
            <a:ext cx="3757204" cy="435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73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96123" y="1579910"/>
            <a:ext cx="7144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 dirty="0">
                <a:hlinkClick r:id="rId3"/>
              </a:rPr>
              <a:t>https://nextjs.org/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Mozilla Developer Networks, URL: </a:t>
            </a:r>
            <a:r>
              <a:rPr lang="en-US" dirty="0">
                <a:hlinkClick r:id="rId4"/>
              </a:rPr>
              <a:t>https://developer.mozilla.org/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752</TotalTime>
  <Words>857</Words>
  <Application>Microsoft Office PowerPoint</Application>
  <PresentationFormat>On-screen Show (4:3)</PresentationFormat>
  <Paragraphs>85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__Inter_4b5723</vt:lpstr>
      <vt:lpstr>Arial</vt:lpstr>
      <vt:lpstr>Calibri</vt:lpstr>
      <vt:lpstr>Cambria</vt:lpstr>
      <vt:lpstr>Corbel</vt:lpstr>
      <vt:lpstr>Times New Roman</vt:lpstr>
      <vt:lpstr>Wingdings</vt:lpstr>
      <vt:lpstr>Spectrum</vt:lpstr>
      <vt:lpstr>NextJs Installation</vt:lpstr>
      <vt:lpstr>Lecture Outline</vt:lpstr>
      <vt:lpstr>Creating the first NextJS App</vt:lpstr>
      <vt:lpstr>Running the App</vt:lpstr>
      <vt:lpstr>Changing port address</vt:lpstr>
      <vt:lpstr>Nextjs directory structure </vt:lpstr>
      <vt:lpstr>Pages in Next.js</vt:lpstr>
      <vt:lpstr>Create a New Page</vt:lpstr>
      <vt:lpstr>Link Component</vt:lpstr>
      <vt:lpstr>External Links </vt:lpstr>
      <vt:lpstr>Image Component</vt:lpstr>
      <vt:lpstr>Image Component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lastModifiedBy>Sazzad Hossain</cp:lastModifiedBy>
  <cp:revision>269</cp:revision>
  <dcterms:created xsi:type="dcterms:W3CDTF">2018-12-10T17:20:29Z</dcterms:created>
  <dcterms:modified xsi:type="dcterms:W3CDTF">2025-08-25T07:43:33Z</dcterms:modified>
</cp:coreProperties>
</file>