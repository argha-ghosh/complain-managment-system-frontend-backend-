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66" r:id="rId4"/>
    <p:sldId id="294" r:id="rId5"/>
    <p:sldId id="296" r:id="rId6"/>
    <p:sldId id="297" r:id="rId7"/>
    <p:sldId id="299" r:id="rId8"/>
    <p:sldId id="300" r:id="rId9"/>
    <p:sldId id="302" r:id="rId10"/>
    <p:sldId id="303" r:id="rId11"/>
    <p:sldId id="265" r:id="rId12"/>
    <p:sldId id="29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33"/>
    <a:srgbClr val="003E1C"/>
    <a:srgbClr val="CE0285"/>
    <a:srgbClr val="007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F9039-4697-4EAE-8680-C01B2CCD601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9819E-3E90-40F4-B43D-98EBE83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58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819E-3E90-40F4-B43D-98EBE83AF2F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670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01708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4251665B-C24A-4702-B522-6A4334602E03}" type="datetimeFigureOut">
              <a:rPr lang="en-US" smtClean="0"/>
              <a:pPr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w3schools.com/js/tryit.asp?filename=tryjs_dom_method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js.org/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developer.mozilla.org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rgbClr val="FFFFFF"/>
                </a:solidFill>
              </a:rPr>
              <a:t>Introduction to Frontend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>
                <a:latin typeface="+mn-lt"/>
              </a:rPr>
              <a:t>Course Code: CSC 4182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974792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59134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23889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14391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>
                          <a:latin typeface="Cambria" panose="02040503050406030204" pitchFamily="18" charset="0"/>
                        </a:rPr>
                        <a:t>Sazzad Hossain; sazzad@aiub.edu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850062" y="1532427"/>
            <a:ext cx="543511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Course Title: Advanced Programming In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What is frontend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How Web 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CSS Frameworks, Libraries, and Preprocessors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JavaScript libraries and frameworks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What is DOM?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Rendering User Interfaces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FFFFFF"/>
                </a:solidFill>
              </a:rPr>
              <a:t>WHAT IS FRONTEND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19922" y="2043348"/>
            <a:ext cx="902407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Frontend: client-facing part of a web app or in browser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Built using HTML, CSS, and JavaScript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Responsible for rendering UI and enabling user interaction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Runs in user's web browser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Communicates with backend running on a server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Sends requests to backend, which processes and sends back responses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Can be divided into three main components: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</a:rPr>
              <a:t>HTML</a:t>
            </a:r>
            <a:r>
              <a:rPr lang="en-US" sz="2400" b="0" i="0" dirty="0">
                <a:effectLst/>
              </a:rPr>
              <a:t>: structure the content of the web page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</a:rPr>
              <a:t>CSS</a:t>
            </a:r>
            <a:r>
              <a:rPr lang="en-US" sz="2400" b="0" i="0" dirty="0">
                <a:effectLst/>
              </a:rPr>
              <a:t>: style the page and make it visually appealing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</a:rPr>
              <a:t>JavaScript</a:t>
            </a:r>
            <a:r>
              <a:rPr lang="en-US" sz="2400" b="0" i="0" dirty="0">
                <a:effectLst/>
              </a:rPr>
              <a:t>: add interactivity and functionality to the page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Web </a:t>
            </a:r>
            <a:r>
              <a:rPr lang="en-US" sz="4400" dirty="0">
                <a:solidFill>
                  <a:srgbClr val="FFFFFF"/>
                </a:solidFill>
              </a:rPr>
              <a:t>W</a:t>
            </a:r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orks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90ABFA-71E9-6383-DCF7-9FA95304B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6849" y="2585711"/>
            <a:ext cx="8070301" cy="2945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5905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3800" dirty="0"/>
              <a:t>CSS Frameworks, Libraries, and Preprocessors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0B242E-AC25-61BB-F762-4B6DF405247C}"/>
              </a:ext>
            </a:extLst>
          </p:cNvPr>
          <p:cNvSpPr txBox="1">
            <a:spLocks/>
          </p:cNvSpPr>
          <p:nvPr/>
        </p:nvSpPr>
        <p:spPr>
          <a:xfrm>
            <a:off x="421341" y="2194215"/>
            <a:ext cx="6351041" cy="2469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Bootstrap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Tailwind CSS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Bulma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Materialize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Semantic UI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2047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JavaScript libraries and frameworks</a:t>
            </a:r>
            <a:endParaRPr lang="en-US" sz="3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09B8D5-9FE3-259A-5524-C1C8691FFF3C}"/>
              </a:ext>
            </a:extLst>
          </p:cNvPr>
          <p:cNvSpPr txBox="1"/>
          <p:nvPr/>
        </p:nvSpPr>
        <p:spPr>
          <a:xfrm>
            <a:off x="119922" y="2043348"/>
            <a:ext cx="9024078" cy="4298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React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React is a popular JavaScript library for building user interfaces, developed by Facebook.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Angular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Angular is a popular JavaScript framework for building complex, large-scale web applications, developed by Google.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Vue.js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Vue.js is a progressive JavaScript framework for building user interfaces, designed to be flexible and easy to learn.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jQuery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jQuery is a popular JavaScript library that simplifies HTML document traversal, event handling, and animation. 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Backbone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.js: Backbone.js is a lightweight JavaScript framework that provides a simple and flexible structure for building web applications.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D3.js</a:t>
            </a:r>
            <a:r>
              <a:rPr lang="en-US" sz="2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D3.js is a JavaScript library for data visualization, which allows developers to create interactive and dynamic data visualizations.</a:t>
            </a:r>
          </a:p>
        </p:txBody>
      </p:sp>
    </p:spTree>
    <p:extLst>
      <p:ext uri="{BB962C8B-B14F-4D97-AF65-F5344CB8AC3E}">
        <p14:creationId xmlns:p14="http://schemas.microsoft.com/office/powerpoint/2010/main" val="3779582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What is DOM?</a:t>
            </a:r>
            <a:endParaRPr lang="en-US" sz="3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09B8D5-9FE3-259A-5524-C1C8691FFF3C}"/>
              </a:ext>
            </a:extLst>
          </p:cNvPr>
          <p:cNvSpPr txBox="1"/>
          <p:nvPr/>
        </p:nvSpPr>
        <p:spPr>
          <a:xfrm>
            <a:off x="496292" y="2058338"/>
            <a:ext cx="824458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2400" b="0" i="0" dirty="0">
                <a:effectLst/>
                <a:latin typeface="Söhne"/>
              </a:rPr>
              <a:t>DOM stands for Document Object Model</a:t>
            </a:r>
          </a:p>
          <a:p>
            <a:pPr algn="l">
              <a:buFont typeface="+mj-lt"/>
              <a:buAutoNum type="arabicPeriod"/>
            </a:pPr>
            <a:r>
              <a:rPr lang="en-US" sz="2400" b="0" i="0" dirty="0">
                <a:effectLst/>
                <a:latin typeface="Söhne"/>
              </a:rPr>
              <a:t>It is a programming interface for web documents</a:t>
            </a:r>
          </a:p>
          <a:p>
            <a:pPr algn="l">
              <a:buFont typeface="+mj-lt"/>
              <a:buAutoNum type="arabicPeriod"/>
            </a:pPr>
            <a:r>
              <a:rPr lang="en-US" sz="2400" b="0" i="0" dirty="0">
                <a:effectLst/>
                <a:latin typeface="Söhne"/>
              </a:rPr>
              <a:t>The DOM represents the page so that programs can change the document structure, style, and content</a:t>
            </a:r>
          </a:p>
          <a:p>
            <a:pPr algn="l">
              <a:buFont typeface="+mj-lt"/>
              <a:buAutoNum type="arabicPeriod"/>
            </a:pPr>
            <a:r>
              <a:rPr lang="en-US" sz="2400" b="0" i="0" dirty="0">
                <a:effectLst/>
                <a:latin typeface="Söhne"/>
              </a:rPr>
              <a:t>The DOM provides a way to access and manipulate HTML elements on a web page</a:t>
            </a:r>
          </a:p>
          <a:p>
            <a:pPr algn="l">
              <a:buFont typeface="+mj-lt"/>
              <a:buAutoNum type="arabicPeriod"/>
            </a:pPr>
            <a:r>
              <a:rPr lang="en-US" sz="2400" b="0" i="0" dirty="0">
                <a:effectLst/>
                <a:latin typeface="Söhne"/>
              </a:rPr>
              <a:t>Developers can use JavaScript to change the content, style, and structure of the page</a:t>
            </a:r>
          </a:p>
          <a:p>
            <a:pPr algn="l">
              <a:buFont typeface="+mj-lt"/>
              <a:buAutoNum type="arabicPeriod"/>
            </a:pPr>
            <a:r>
              <a:rPr lang="en-US" sz="2400" b="0" i="0" dirty="0">
                <a:effectLst/>
                <a:latin typeface="Söhne"/>
              </a:rPr>
              <a:t>With the DOM, developers can create dynamic web applications that respond to user input</a:t>
            </a:r>
          </a:p>
        </p:txBody>
      </p:sp>
    </p:spTree>
    <p:extLst>
      <p:ext uri="{BB962C8B-B14F-4D97-AF65-F5344CB8AC3E}">
        <p14:creationId xmlns:p14="http://schemas.microsoft.com/office/powerpoint/2010/main" val="2277853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Rendering User Interfaces</a:t>
            </a:r>
            <a:endParaRPr lang="en-US" sz="38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A00CB00-D9DB-C9AC-0C1B-AB23269EE8C9}"/>
              </a:ext>
            </a:extLst>
          </p:cNvPr>
          <p:cNvGrpSpPr/>
          <p:nvPr/>
        </p:nvGrpSpPr>
        <p:grpSpPr>
          <a:xfrm>
            <a:off x="626619" y="2413416"/>
            <a:ext cx="7603698" cy="3632997"/>
            <a:chOff x="101246" y="2233738"/>
            <a:chExt cx="8723788" cy="39681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2302CE0-EF2B-15B5-1A6A-21CAEFED62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152905" y="2233738"/>
              <a:ext cx="5672129" cy="39681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D322EDF-C421-46FD-C99C-1C9BEEA083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01246" y="2233738"/>
              <a:ext cx="6007738" cy="39681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43623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JavaScript and DOM Methods</a:t>
            </a:r>
            <a:endParaRPr lang="en-US" sz="3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37255E-0124-A63A-F3C6-37034A306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24" y="2762711"/>
            <a:ext cx="3202092" cy="29080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6E0A6E-A7B0-EBCA-0033-19FCC5238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767" y="2628685"/>
            <a:ext cx="4673609" cy="29080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C3D461-0240-C5CC-BE92-872BB6674E3A}"/>
              </a:ext>
            </a:extLst>
          </p:cNvPr>
          <p:cNvSpPr txBox="1"/>
          <p:nvPr/>
        </p:nvSpPr>
        <p:spPr>
          <a:xfrm flipH="1">
            <a:off x="-14992" y="5931281"/>
            <a:ext cx="9144001" cy="8309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Example given here: </a:t>
            </a:r>
            <a:r>
              <a:rPr lang="en-US" sz="2400" dirty="0">
                <a:hlinkClick r:id="rId4"/>
              </a:rPr>
              <a:t>https://www.w3schools.com/js/tryit.asp?filename=tryjs_dom_method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7FFECE-DDC8-ADF2-0AC8-2F2BE159599E}"/>
              </a:ext>
            </a:extLst>
          </p:cNvPr>
          <p:cNvSpPr txBox="1"/>
          <p:nvPr/>
        </p:nvSpPr>
        <p:spPr>
          <a:xfrm>
            <a:off x="421341" y="2197392"/>
            <a:ext cx="16755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Plain HTML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AEC835-1280-BCFA-4060-1913BF92A027}"/>
              </a:ext>
            </a:extLst>
          </p:cNvPr>
          <p:cNvSpPr txBox="1"/>
          <p:nvPr/>
        </p:nvSpPr>
        <p:spPr>
          <a:xfrm>
            <a:off x="3410716" y="2167020"/>
            <a:ext cx="6688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Add JavaScript to HTML</a:t>
            </a:r>
          </a:p>
        </p:txBody>
      </p:sp>
    </p:spTree>
    <p:extLst>
      <p:ext uri="{BB962C8B-B14F-4D97-AF65-F5344CB8AC3E}">
        <p14:creationId xmlns:p14="http://schemas.microsoft.com/office/powerpoint/2010/main" val="3853087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HTML vs the DOM</a:t>
            </a:r>
            <a:endParaRPr lang="en-US" sz="3800" dirty="0"/>
          </a:p>
        </p:txBody>
      </p:sp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690ABBAE-218A-DF29-D5EA-99EFEF6D4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4710" y="2639694"/>
            <a:ext cx="7225088" cy="3522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786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>
                <a:solidFill>
                  <a:schemeClr val="tx1"/>
                </a:solidFill>
                <a:latin typeface="Cambria" panose="02040503050406030204" pitchFamily="18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496123" y="1579910"/>
            <a:ext cx="71443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W3Schools Online Web Tutorials, URL: </a:t>
            </a:r>
            <a:r>
              <a:rPr lang="en-US" sz="1800" b="1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hlinkClick r:id="rId2"/>
              </a:rPr>
              <a:t>http://www.w3schools.com</a:t>
            </a:r>
            <a:endParaRPr lang="en-US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Next.js, URL: </a:t>
            </a:r>
            <a:r>
              <a:rPr lang="en-US" dirty="0">
                <a:hlinkClick r:id="rId3"/>
              </a:rPr>
              <a:t>https://nextjs.org/</a:t>
            </a:r>
            <a:endParaRPr lang="en-US" dirty="0"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</a:rPr>
              <a:t>Mozilla </a:t>
            </a:r>
            <a:r>
              <a:rPr lang="en-US" b="1">
                <a:latin typeface="Times New Roman" panose="02020603050405020304" pitchFamily="18" charset="0"/>
              </a:rPr>
              <a:t>Developer Networks, URL: </a:t>
            </a:r>
            <a:r>
              <a:rPr lang="en-US">
                <a:hlinkClick r:id="rId4"/>
              </a:rPr>
              <a:t>https://developer.mozilla.org/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3062145" y="3429000"/>
            <a:ext cx="2641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latin typeface="Cambria" panose="02040503050406030204" pitchFamily="18" charset="0"/>
                <a:ea typeface="Cambria" panose="02040503050406030204" pitchFamily="18" charset="0"/>
              </a:rPr>
              <a:t>Thank You!</a:t>
            </a:r>
            <a:endParaRPr lang="x-none" sz="4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729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387</TotalTime>
  <Words>484</Words>
  <Application>Microsoft Office PowerPoint</Application>
  <PresentationFormat>On-screen Show (4:3)</PresentationFormat>
  <Paragraphs>63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Söhne</vt:lpstr>
      <vt:lpstr>Arial</vt:lpstr>
      <vt:lpstr>Calibri</vt:lpstr>
      <vt:lpstr>Cambria</vt:lpstr>
      <vt:lpstr>Corbel</vt:lpstr>
      <vt:lpstr>Times New Roman</vt:lpstr>
      <vt:lpstr>Wingdings</vt:lpstr>
      <vt:lpstr>Spectrum</vt:lpstr>
      <vt:lpstr>Introduction to Frontend</vt:lpstr>
      <vt:lpstr>Lecture Outline</vt:lpstr>
      <vt:lpstr>WHAT IS FRONTEND</vt:lpstr>
      <vt:lpstr>How Web Works</vt:lpstr>
      <vt:lpstr>CSS Frameworks, Libraries, and Preprocessors</vt:lpstr>
      <vt:lpstr>JavaScript libraries and frameworks</vt:lpstr>
      <vt:lpstr>What is DOM?</vt:lpstr>
      <vt:lpstr>Rendering User Interfaces</vt:lpstr>
      <vt:lpstr>JavaScript and DOM Methods</vt:lpstr>
      <vt:lpstr>HTML vs the DOM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3NP_Materials</dc:title>
  <dc:creator>Sazzad Hossain</dc:creator>
  <cp:lastModifiedBy>Sazzad Hossain</cp:lastModifiedBy>
  <cp:revision>109</cp:revision>
  <dcterms:created xsi:type="dcterms:W3CDTF">2018-12-10T17:20:29Z</dcterms:created>
  <dcterms:modified xsi:type="dcterms:W3CDTF">2023-07-24T07:12:45Z</dcterms:modified>
</cp:coreProperties>
</file>