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266" r:id="rId4"/>
    <p:sldId id="336" r:id="rId5"/>
    <p:sldId id="320" r:id="rId6"/>
    <p:sldId id="321" r:id="rId7"/>
    <p:sldId id="323" r:id="rId8"/>
    <p:sldId id="324" r:id="rId9"/>
    <p:sldId id="325" r:id="rId10"/>
    <p:sldId id="326" r:id="rId11"/>
    <p:sldId id="327" r:id="rId12"/>
    <p:sldId id="328" r:id="rId13"/>
    <p:sldId id="329" r:id="rId14"/>
    <p:sldId id="331" r:id="rId15"/>
    <p:sldId id="332" r:id="rId16"/>
    <p:sldId id="333" r:id="rId17"/>
    <p:sldId id="334" r:id="rId18"/>
    <p:sldId id="335" r:id="rId19"/>
    <p:sldId id="265" r:id="rId20"/>
    <p:sldId id="292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33"/>
    <a:srgbClr val="003E1C"/>
    <a:srgbClr val="CE0285"/>
    <a:srgbClr val="0074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064819-911D-494A-A68F-12F172704FE1}" v="3" dt="2024-09-17T07:21:53.1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147" autoAdjust="0"/>
    <p:restoredTop sz="93969" autoAdjust="0"/>
  </p:normalViewPr>
  <p:slideViewPr>
    <p:cSldViewPr snapToGrid="0">
      <p:cViewPr>
        <p:scale>
          <a:sx n="83" d="100"/>
          <a:sy n="83" d="100"/>
        </p:scale>
        <p:origin x="75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55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zzad Hossain" userId="22e04870-1fae-4b73-a03c-7df4a64ac6f3" providerId="ADAL" clId="{22064819-911D-494A-A68F-12F172704FE1}"/>
    <pc:docChg chg="custSel addSld modSld">
      <pc:chgData name="Sazzad Hossain" userId="22e04870-1fae-4b73-a03c-7df4a64ac6f3" providerId="ADAL" clId="{22064819-911D-494A-A68F-12F172704FE1}" dt="2024-09-17T07:23:04.419" v="23" actId="120"/>
      <pc:docMkLst>
        <pc:docMk/>
      </pc:docMkLst>
      <pc:sldChg chg="addSp delSp modSp new mod">
        <pc:chgData name="Sazzad Hossain" userId="22e04870-1fae-4b73-a03c-7df4a64ac6f3" providerId="ADAL" clId="{22064819-911D-494A-A68F-12F172704FE1}" dt="2024-09-17T07:23:04.419" v="23" actId="120"/>
        <pc:sldMkLst>
          <pc:docMk/>
          <pc:sldMk cId="2885516249" sldId="336"/>
        </pc:sldMkLst>
        <pc:spChg chg="del">
          <ac:chgData name="Sazzad Hossain" userId="22e04870-1fae-4b73-a03c-7df4a64ac6f3" providerId="ADAL" clId="{22064819-911D-494A-A68F-12F172704FE1}" dt="2024-09-17T07:18:39.993" v="1"/>
          <ac:spMkLst>
            <pc:docMk/>
            <pc:sldMk cId="2885516249" sldId="336"/>
            <ac:spMk id="3" creationId="{C30E8595-650F-DAD9-63A0-85DD91A0429F}"/>
          </ac:spMkLst>
        </pc:spChg>
        <pc:spChg chg="add del mod">
          <ac:chgData name="Sazzad Hossain" userId="22e04870-1fae-4b73-a03c-7df4a64ac6f3" providerId="ADAL" clId="{22064819-911D-494A-A68F-12F172704FE1}" dt="2024-09-17T07:19:28.941" v="8"/>
          <ac:spMkLst>
            <pc:docMk/>
            <pc:sldMk cId="2885516249" sldId="336"/>
            <ac:spMk id="21" creationId="{407268B2-1C8E-0E87-889D-F6482BA3C196}"/>
          </ac:spMkLst>
        </pc:spChg>
        <pc:spChg chg="add del mod">
          <ac:chgData name="Sazzad Hossain" userId="22e04870-1fae-4b73-a03c-7df4a64ac6f3" providerId="ADAL" clId="{22064819-911D-494A-A68F-12F172704FE1}" dt="2024-09-17T07:21:53.131" v="12"/>
          <ac:spMkLst>
            <pc:docMk/>
            <pc:sldMk cId="2885516249" sldId="336"/>
            <ac:spMk id="24" creationId="{324CD37E-36CF-4669-2930-3E8749661648}"/>
          </ac:spMkLst>
        </pc:spChg>
        <pc:graphicFrameChg chg="add del mod">
          <ac:chgData name="Sazzad Hossain" userId="22e04870-1fae-4b73-a03c-7df4a64ac6f3" providerId="ADAL" clId="{22064819-911D-494A-A68F-12F172704FE1}" dt="2024-09-17T07:19:26.634" v="7" actId="478"/>
          <ac:graphicFrameMkLst>
            <pc:docMk/>
            <pc:sldMk cId="2885516249" sldId="336"/>
            <ac:graphicFrameMk id="4" creationId="{5E659E9A-42F9-E8E4-47CC-F6F651F6799E}"/>
          </ac:graphicFrameMkLst>
        </pc:graphicFrameChg>
        <pc:graphicFrameChg chg="add del mod">
          <ac:chgData name="Sazzad Hossain" userId="22e04870-1fae-4b73-a03c-7df4a64ac6f3" providerId="ADAL" clId="{22064819-911D-494A-A68F-12F172704FE1}" dt="2024-09-17T07:19:26.634" v="7" actId="478"/>
          <ac:graphicFrameMkLst>
            <pc:docMk/>
            <pc:sldMk cId="2885516249" sldId="336"/>
            <ac:graphicFrameMk id="5" creationId="{51C2E894-96E0-9834-3795-3D2F942A6E86}"/>
          </ac:graphicFrameMkLst>
        </pc:graphicFrameChg>
        <pc:graphicFrameChg chg="add del mod">
          <ac:chgData name="Sazzad Hossain" userId="22e04870-1fae-4b73-a03c-7df4a64ac6f3" providerId="ADAL" clId="{22064819-911D-494A-A68F-12F172704FE1}" dt="2024-09-17T07:19:26.634" v="7" actId="478"/>
          <ac:graphicFrameMkLst>
            <pc:docMk/>
            <pc:sldMk cId="2885516249" sldId="336"/>
            <ac:graphicFrameMk id="6" creationId="{D63B8FC8-23BC-B65B-C962-6BFBC8A6F825}"/>
          </ac:graphicFrameMkLst>
        </pc:graphicFrameChg>
        <pc:graphicFrameChg chg="add del mod">
          <ac:chgData name="Sazzad Hossain" userId="22e04870-1fae-4b73-a03c-7df4a64ac6f3" providerId="ADAL" clId="{22064819-911D-494A-A68F-12F172704FE1}" dt="2024-09-17T07:19:26.634" v="7" actId="478"/>
          <ac:graphicFrameMkLst>
            <pc:docMk/>
            <pc:sldMk cId="2885516249" sldId="336"/>
            <ac:graphicFrameMk id="7" creationId="{738341F0-0653-1833-9EE0-2C5A886FEF7D}"/>
          </ac:graphicFrameMkLst>
        </pc:graphicFrameChg>
        <pc:graphicFrameChg chg="add del mod">
          <ac:chgData name="Sazzad Hossain" userId="22e04870-1fae-4b73-a03c-7df4a64ac6f3" providerId="ADAL" clId="{22064819-911D-494A-A68F-12F172704FE1}" dt="2024-09-17T07:19:26.634" v="7" actId="478"/>
          <ac:graphicFrameMkLst>
            <pc:docMk/>
            <pc:sldMk cId="2885516249" sldId="336"/>
            <ac:graphicFrameMk id="8" creationId="{FF34EF22-7965-670E-4E1C-092532EC40A6}"/>
          </ac:graphicFrameMkLst>
        </pc:graphicFrameChg>
        <pc:graphicFrameChg chg="add del mod">
          <ac:chgData name="Sazzad Hossain" userId="22e04870-1fae-4b73-a03c-7df4a64ac6f3" providerId="ADAL" clId="{22064819-911D-494A-A68F-12F172704FE1}" dt="2024-09-17T07:19:26.634" v="7" actId="478"/>
          <ac:graphicFrameMkLst>
            <pc:docMk/>
            <pc:sldMk cId="2885516249" sldId="336"/>
            <ac:graphicFrameMk id="9" creationId="{DF2279DF-39C7-549C-6C55-97C19719F444}"/>
          </ac:graphicFrameMkLst>
        </pc:graphicFrameChg>
        <pc:graphicFrameChg chg="add del mod">
          <ac:chgData name="Sazzad Hossain" userId="22e04870-1fae-4b73-a03c-7df4a64ac6f3" providerId="ADAL" clId="{22064819-911D-494A-A68F-12F172704FE1}" dt="2024-09-17T07:19:26.634" v="7" actId="478"/>
          <ac:graphicFrameMkLst>
            <pc:docMk/>
            <pc:sldMk cId="2885516249" sldId="336"/>
            <ac:graphicFrameMk id="10" creationId="{76C745F0-21E7-2B9F-9F59-9FA89DA77C66}"/>
          </ac:graphicFrameMkLst>
        </pc:graphicFrameChg>
        <pc:graphicFrameChg chg="add del mod">
          <ac:chgData name="Sazzad Hossain" userId="22e04870-1fae-4b73-a03c-7df4a64ac6f3" providerId="ADAL" clId="{22064819-911D-494A-A68F-12F172704FE1}" dt="2024-09-17T07:19:26.634" v="7" actId="478"/>
          <ac:graphicFrameMkLst>
            <pc:docMk/>
            <pc:sldMk cId="2885516249" sldId="336"/>
            <ac:graphicFrameMk id="11" creationId="{A733E4F4-3938-9023-DD9C-A5D1F155F23F}"/>
          </ac:graphicFrameMkLst>
        </pc:graphicFrameChg>
        <pc:graphicFrameChg chg="add del mod">
          <ac:chgData name="Sazzad Hossain" userId="22e04870-1fae-4b73-a03c-7df4a64ac6f3" providerId="ADAL" clId="{22064819-911D-494A-A68F-12F172704FE1}" dt="2024-09-17T07:19:26.634" v="7" actId="478"/>
          <ac:graphicFrameMkLst>
            <pc:docMk/>
            <pc:sldMk cId="2885516249" sldId="336"/>
            <ac:graphicFrameMk id="12" creationId="{60C6B0C3-CB15-E29D-B035-04A1024E458C}"/>
          </ac:graphicFrameMkLst>
        </pc:graphicFrameChg>
        <pc:graphicFrameChg chg="add del mod">
          <ac:chgData name="Sazzad Hossain" userId="22e04870-1fae-4b73-a03c-7df4a64ac6f3" providerId="ADAL" clId="{22064819-911D-494A-A68F-12F172704FE1}" dt="2024-09-17T07:19:26.634" v="7" actId="478"/>
          <ac:graphicFrameMkLst>
            <pc:docMk/>
            <pc:sldMk cId="2885516249" sldId="336"/>
            <ac:graphicFrameMk id="13" creationId="{3D57E3E9-9D8B-E1D1-4678-4108928738C7}"/>
          </ac:graphicFrameMkLst>
        </pc:graphicFrameChg>
        <pc:graphicFrameChg chg="add del mod">
          <ac:chgData name="Sazzad Hossain" userId="22e04870-1fae-4b73-a03c-7df4a64ac6f3" providerId="ADAL" clId="{22064819-911D-494A-A68F-12F172704FE1}" dt="2024-09-17T07:19:26.634" v="7" actId="478"/>
          <ac:graphicFrameMkLst>
            <pc:docMk/>
            <pc:sldMk cId="2885516249" sldId="336"/>
            <ac:graphicFrameMk id="14" creationId="{291394E1-AF1A-3B85-C91F-40369B3B1EA2}"/>
          </ac:graphicFrameMkLst>
        </pc:graphicFrameChg>
        <pc:graphicFrameChg chg="add del mod">
          <ac:chgData name="Sazzad Hossain" userId="22e04870-1fae-4b73-a03c-7df4a64ac6f3" providerId="ADAL" clId="{22064819-911D-494A-A68F-12F172704FE1}" dt="2024-09-17T07:19:26.634" v="7" actId="478"/>
          <ac:graphicFrameMkLst>
            <pc:docMk/>
            <pc:sldMk cId="2885516249" sldId="336"/>
            <ac:graphicFrameMk id="15" creationId="{F7196A07-6E51-76FD-5EEC-D5FA08BA614C}"/>
          </ac:graphicFrameMkLst>
        </pc:graphicFrameChg>
        <pc:graphicFrameChg chg="add del mod">
          <ac:chgData name="Sazzad Hossain" userId="22e04870-1fae-4b73-a03c-7df4a64ac6f3" providerId="ADAL" clId="{22064819-911D-494A-A68F-12F172704FE1}" dt="2024-09-17T07:19:25.094" v="6" actId="478"/>
          <ac:graphicFrameMkLst>
            <pc:docMk/>
            <pc:sldMk cId="2885516249" sldId="336"/>
            <ac:graphicFrameMk id="16" creationId="{D37BFF95-5D3B-020F-C020-72B90DED7688}"/>
          </ac:graphicFrameMkLst>
        </pc:graphicFrameChg>
        <pc:graphicFrameChg chg="add del mod modGraphic">
          <ac:chgData name="Sazzad Hossain" userId="22e04870-1fae-4b73-a03c-7df4a64ac6f3" providerId="ADAL" clId="{22064819-911D-494A-A68F-12F172704FE1}" dt="2024-09-17T07:18:51.787" v="5" actId="478"/>
          <ac:graphicFrameMkLst>
            <pc:docMk/>
            <pc:sldMk cId="2885516249" sldId="336"/>
            <ac:graphicFrameMk id="17" creationId="{A7045DC5-49D8-200D-EF45-19BB6A316524}"/>
          </ac:graphicFrameMkLst>
        </pc:graphicFrameChg>
        <pc:graphicFrameChg chg="add del mod">
          <ac:chgData name="Sazzad Hossain" userId="22e04870-1fae-4b73-a03c-7df4a64ac6f3" providerId="ADAL" clId="{22064819-911D-494A-A68F-12F172704FE1}" dt="2024-09-17T07:18:48.168" v="3" actId="478"/>
          <ac:graphicFrameMkLst>
            <pc:docMk/>
            <pc:sldMk cId="2885516249" sldId="336"/>
            <ac:graphicFrameMk id="18" creationId="{AF4A78EE-9B8B-6A90-4576-828526064E36}"/>
          </ac:graphicFrameMkLst>
        </pc:graphicFrameChg>
        <pc:graphicFrameChg chg="add del mod">
          <ac:chgData name="Sazzad Hossain" userId="22e04870-1fae-4b73-a03c-7df4a64ac6f3" providerId="ADAL" clId="{22064819-911D-494A-A68F-12F172704FE1}" dt="2024-09-17T07:18:44.935" v="2" actId="478"/>
          <ac:graphicFrameMkLst>
            <pc:docMk/>
            <pc:sldMk cId="2885516249" sldId="336"/>
            <ac:graphicFrameMk id="19" creationId="{99711894-E4F0-13C7-B539-42BE4E64A34A}"/>
          </ac:graphicFrameMkLst>
        </pc:graphicFrameChg>
        <pc:graphicFrameChg chg="add del mod modGraphic">
          <ac:chgData name="Sazzad Hossain" userId="22e04870-1fae-4b73-a03c-7df4a64ac6f3" providerId="ADAL" clId="{22064819-911D-494A-A68F-12F172704FE1}" dt="2024-09-17T07:21:51.055" v="11" actId="478"/>
          <ac:graphicFrameMkLst>
            <pc:docMk/>
            <pc:sldMk cId="2885516249" sldId="336"/>
            <ac:graphicFrameMk id="22" creationId="{EFDDA367-EFB0-0756-9509-8FE3B099573D}"/>
          </ac:graphicFrameMkLst>
        </pc:graphicFrameChg>
        <pc:graphicFrameChg chg="add mod modGraphic">
          <ac:chgData name="Sazzad Hossain" userId="22e04870-1fae-4b73-a03c-7df4a64ac6f3" providerId="ADAL" clId="{22064819-911D-494A-A68F-12F172704FE1}" dt="2024-09-17T07:23:04.419" v="23" actId="120"/>
          <ac:graphicFrameMkLst>
            <pc:docMk/>
            <pc:sldMk cId="2885516249" sldId="336"/>
            <ac:graphicFrameMk id="25" creationId="{0673F739-F9E8-57C5-E941-1D07716552FB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7F9039-4697-4EAE-8680-C01B2CCD6013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B9819E-3E90-40F4-B43D-98EBE83AF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658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9819E-3E90-40F4-B43D-98EBE83AF2F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699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01708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Cambria" panose="02040503050406030204" pitchFamily="18" charset="0"/>
                <a:sym typeface="Wingdings"/>
              </a:rPr>
              <a:t></a:t>
            </a:r>
            <a:endParaRPr sz="3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Cambria" panose="02040503050406030204" pitchFamily="18" charset="0"/>
                <a:sym typeface="Wingdings"/>
              </a:rPr>
              <a:t></a:t>
            </a:r>
            <a:endParaRPr sz="3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Cambria" panose="02040503050406030204" pitchFamily="18" charset="0"/>
                <a:sym typeface="Wingdings"/>
              </a:rPr>
              <a:t></a:t>
            </a:r>
            <a:endParaRPr sz="3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4251665B-C24A-4702-B522-6A4334602E03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nextjs.org/" TargetMode="External"/><Relationship Id="rId2" Type="http://schemas.openxmlformats.org/officeDocument/2006/relationships/hyperlink" Target="http://www.w3schools.com/" TargetMode="External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axios-http.com/docs/post_example" TargetMode="External"/><Relationship Id="rId4" Type="http://schemas.openxmlformats.org/officeDocument/2006/relationships/hyperlink" Target="https://developer.mozilla.org/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6205" y="444291"/>
            <a:ext cx="7808976" cy="1088136"/>
          </a:xfrm>
        </p:spPr>
        <p:txBody>
          <a:bodyPr>
            <a:normAutofit/>
          </a:bodyPr>
          <a:lstStyle/>
          <a:p>
            <a:pPr algn="l"/>
            <a:r>
              <a:rPr lang="en-US" sz="2800" dirty="0"/>
              <a:t>AXIOS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>
                <a:latin typeface="+mn-lt"/>
              </a:rPr>
              <a:t>Course Code: CSC 4182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6818544"/>
              </p:ext>
            </p:extLst>
          </p:nvPr>
        </p:nvGraphicFramePr>
        <p:xfrm>
          <a:off x="476205" y="5264727"/>
          <a:ext cx="8335798" cy="74449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859134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23889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2143917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00051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</a:rPr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</a:rPr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 panose="02040503050406030204" pitchFamily="18" charset="0"/>
                        </a:rPr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>
                          <a:latin typeface="Cambria" panose="02040503050406030204" pitchFamily="18" charset="0"/>
                        </a:rPr>
                        <a:t>Sazzad Hossain; sazzad@aiub.edu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2850062" y="1532427"/>
            <a:ext cx="5435119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Course Title: Advanced Programming In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What is AXIOS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Installation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 err="1">
                <a:solidFill>
                  <a:schemeClr val="tx1"/>
                </a:solidFill>
              </a:rPr>
              <a:t>Axios</a:t>
            </a:r>
            <a:r>
              <a:rPr lang="en-US" dirty="0">
                <a:solidFill>
                  <a:schemeClr val="tx1"/>
                </a:solidFill>
              </a:rPr>
              <a:t> Example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Creating Environment Variable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Extract AXIOs Response 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>
                <a:solidFill>
                  <a:schemeClr val="bg1"/>
                </a:solidFill>
              </a:rPr>
              <a:t>What is AXIOS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234538" y="2006444"/>
            <a:ext cx="8811491" cy="470898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dirty="0" err="1"/>
              <a:t>Axios</a:t>
            </a:r>
            <a:r>
              <a:rPr lang="en-US" sz="2000" dirty="0"/>
              <a:t> is a promise-based </a:t>
            </a:r>
            <a:r>
              <a:rPr lang="en-US" sz="2000" b="1" dirty="0"/>
              <a:t>HTTP Client </a:t>
            </a:r>
            <a:r>
              <a:rPr lang="en-US" sz="2000" dirty="0"/>
              <a:t>for </a:t>
            </a:r>
            <a:r>
              <a:rPr lang="en-US" sz="2000" b="1" dirty="0"/>
              <a:t>node.js </a:t>
            </a:r>
            <a:r>
              <a:rPr lang="en-US" sz="2000" dirty="0"/>
              <a:t>and the browser. It is </a:t>
            </a:r>
            <a:r>
              <a:rPr lang="en-US" sz="2000" b="1" dirty="0"/>
              <a:t>isomorphic</a:t>
            </a:r>
            <a:r>
              <a:rPr lang="en-US" sz="2000" dirty="0"/>
              <a:t> ( it can run in the browser and </a:t>
            </a:r>
            <a:r>
              <a:rPr lang="en-US" sz="2000" dirty="0" err="1"/>
              <a:t>nodejs</a:t>
            </a:r>
            <a:r>
              <a:rPr lang="en-US" sz="2000" dirty="0"/>
              <a:t>). On the server-side it uses the native node.js http module, while on the client (browser) it uses </a:t>
            </a:r>
            <a:r>
              <a:rPr lang="en-US" sz="2000" dirty="0" err="1"/>
              <a:t>XMLHttpRequests</a:t>
            </a:r>
            <a:r>
              <a:rPr lang="en-US" sz="2000" dirty="0"/>
              <a:t>.</a:t>
            </a:r>
          </a:p>
          <a:p>
            <a:r>
              <a:rPr lang="en-US" sz="2000" b="1" dirty="0"/>
              <a:t>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Make </a:t>
            </a:r>
            <a:r>
              <a:rPr lang="en-US" sz="2000" dirty="0" err="1"/>
              <a:t>XMLHttpRequests</a:t>
            </a:r>
            <a:r>
              <a:rPr lang="en-US" sz="2000" dirty="0"/>
              <a:t> from the browser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Make http requests from node.js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Supports the Promise API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Automatic request body serialization to: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JSON (application/</a:t>
            </a:r>
            <a:r>
              <a:rPr lang="en-US" sz="2000" dirty="0" err="1"/>
              <a:t>json</a:t>
            </a:r>
            <a:r>
              <a:rPr lang="en-US" sz="2000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Multipart / </a:t>
            </a:r>
            <a:r>
              <a:rPr lang="en-US" sz="2000" dirty="0" err="1"/>
              <a:t>FormData</a:t>
            </a:r>
            <a:r>
              <a:rPr lang="en-US" sz="2000" dirty="0"/>
              <a:t> (multipart/form-data)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URL encoded form (application/x-www-form-</a:t>
            </a:r>
            <a:r>
              <a:rPr lang="en-US" sz="2000" dirty="0" err="1"/>
              <a:t>urlencoded</a:t>
            </a:r>
            <a:r>
              <a:rPr lang="en-US" sz="20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Posting HTML forms as JSON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Progress capturing for browsers and node.js with extra info (speed rate, remaining time)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Setting bandwidth limits for node.js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F2DAE-C82E-F58A-2204-B8168E8A6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25" name="Content Placeholder 24">
            <a:extLst>
              <a:ext uri="{FF2B5EF4-FFF2-40B4-BE49-F238E27FC236}">
                <a16:creationId xmlns:a16="http://schemas.microsoft.com/office/drawing/2014/main" id="{0673F739-F9E8-57C5-E941-1D07716552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4063150"/>
              </p:ext>
            </p:extLst>
          </p:nvPr>
        </p:nvGraphicFramePr>
        <p:xfrm>
          <a:off x="87696" y="99494"/>
          <a:ext cx="8967019" cy="67585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5234">
                  <a:extLst>
                    <a:ext uri="{9D8B030D-6E8A-4147-A177-3AD203B41FA5}">
                      <a16:colId xmlns:a16="http://schemas.microsoft.com/office/drawing/2014/main" val="3544906195"/>
                    </a:ext>
                  </a:extLst>
                </a:gridCol>
                <a:gridCol w="1996506">
                  <a:extLst>
                    <a:ext uri="{9D8B030D-6E8A-4147-A177-3AD203B41FA5}">
                      <a16:colId xmlns:a16="http://schemas.microsoft.com/office/drawing/2014/main" val="1748385908"/>
                    </a:ext>
                  </a:extLst>
                </a:gridCol>
                <a:gridCol w="2173971">
                  <a:extLst>
                    <a:ext uri="{9D8B030D-6E8A-4147-A177-3AD203B41FA5}">
                      <a16:colId xmlns:a16="http://schemas.microsoft.com/office/drawing/2014/main" val="2018375938"/>
                    </a:ext>
                  </a:extLst>
                </a:gridCol>
                <a:gridCol w="3061308">
                  <a:extLst>
                    <a:ext uri="{9D8B030D-6E8A-4147-A177-3AD203B41FA5}">
                      <a16:colId xmlns:a16="http://schemas.microsoft.com/office/drawing/2014/main" val="1195510180"/>
                    </a:ext>
                  </a:extLst>
                </a:gridCol>
              </a:tblGrid>
              <a:tr h="18137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Feature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 err="1">
                          <a:effectLst/>
                        </a:rPr>
                        <a:t>Axios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Fetch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AJAX (</a:t>
                      </a:r>
                      <a:r>
                        <a:rPr lang="en-US" sz="1600" b="1" u="none" strike="noStrike" dirty="0" err="1">
                          <a:effectLst/>
                        </a:rPr>
                        <a:t>XMLHttpRequest</a:t>
                      </a:r>
                      <a:r>
                        <a:rPr lang="en-US" sz="1600" b="1" u="none" strike="noStrike" dirty="0">
                          <a:effectLst/>
                        </a:rPr>
                        <a:t>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extLst>
                  <a:ext uri="{0D108BD9-81ED-4DB2-BD59-A6C34878D82A}">
                    <a16:rowId xmlns:a16="http://schemas.microsoft.com/office/drawing/2014/main" val="1079483544"/>
                  </a:ext>
                </a:extLst>
              </a:tr>
              <a:tr h="1813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 dirty="0">
                          <a:effectLst/>
                        </a:rPr>
                        <a:t>Year Introduced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2014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2015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1999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extLst>
                  <a:ext uri="{0D108BD9-81ED-4DB2-BD59-A6C34878D82A}">
                    <a16:rowId xmlns:a16="http://schemas.microsoft.com/office/drawing/2014/main" val="1312841684"/>
                  </a:ext>
                </a:extLst>
              </a:tr>
              <a:tr h="72548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 dirty="0">
                          <a:effectLst/>
                        </a:rPr>
                        <a:t>Ease of Use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Simplified API with default configurations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Simple but low-level (requires manual configuration for advanced use)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Verbose and outdated API; requires more code to achieve simple tasks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extLst>
                  <a:ext uri="{0D108BD9-81ED-4DB2-BD59-A6C34878D82A}">
                    <a16:rowId xmlns:a16="http://schemas.microsoft.com/office/drawing/2014/main" val="2308648875"/>
                  </a:ext>
                </a:extLst>
              </a:tr>
              <a:tr h="5441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 dirty="0">
                          <a:effectLst/>
                        </a:rPr>
                        <a:t>Default JSON Handling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Automatically transforms JSON data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Requires .json() method for JSON parsing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No automatic handling, manual parsing needed for JSON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extLst>
                  <a:ext uri="{0D108BD9-81ED-4DB2-BD59-A6C34878D82A}">
                    <a16:rowId xmlns:a16="http://schemas.microsoft.com/office/drawing/2014/main" val="3449916490"/>
                  </a:ext>
                </a:extLst>
              </a:tr>
              <a:tr h="36274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 dirty="0">
                          <a:effectLst/>
                        </a:rPr>
                        <a:t>Promise-Based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Yes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Yes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No (Callback-based, but can be wrapped in promises)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extLst>
                  <a:ext uri="{0D108BD9-81ED-4DB2-BD59-A6C34878D82A}">
                    <a16:rowId xmlns:a16="http://schemas.microsoft.com/office/drawing/2014/main" val="2234386846"/>
                  </a:ext>
                </a:extLst>
              </a:tr>
              <a:tr h="5441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 dirty="0">
                          <a:effectLst/>
                        </a:rPr>
                        <a:t>Response Timeout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Native support for request timeout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No native support (requires manual timeout handling)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Timeout via setTimeout function, but not built-in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extLst>
                  <a:ext uri="{0D108BD9-81ED-4DB2-BD59-A6C34878D82A}">
                    <a16:rowId xmlns:a16="http://schemas.microsoft.com/office/drawing/2014/main" val="2153098905"/>
                  </a:ext>
                </a:extLst>
              </a:tr>
              <a:tr h="36274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 dirty="0">
                          <a:effectLst/>
                        </a:rPr>
                        <a:t>Error Handling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Catches HTTP errors automatically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Must manually handle HTTP error statuses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Requires manual error handling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extLst>
                  <a:ext uri="{0D108BD9-81ED-4DB2-BD59-A6C34878D82A}">
                    <a16:rowId xmlns:a16="http://schemas.microsoft.com/office/drawing/2014/main" val="1716373410"/>
                  </a:ext>
                </a:extLst>
              </a:tr>
              <a:tr h="72548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 dirty="0">
                          <a:effectLst/>
                        </a:rPr>
                        <a:t>Request/Response Transformation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Allows request and response transformation out of the box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Must manually transform requests/responses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No native support for transformations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extLst>
                  <a:ext uri="{0D108BD9-81ED-4DB2-BD59-A6C34878D82A}">
                    <a16:rowId xmlns:a16="http://schemas.microsoft.com/office/drawing/2014/main" val="1965055555"/>
                  </a:ext>
                </a:extLst>
              </a:tr>
              <a:tr h="72548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 dirty="0">
                          <a:effectLst/>
                        </a:rPr>
                        <a:t>Progress Tracking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Supports request/response progress tracking with ease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Not natively supported (requires manual implementation)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Supports progress tracking (e.g., file uploads)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extLst>
                  <a:ext uri="{0D108BD9-81ED-4DB2-BD59-A6C34878D82A}">
                    <a16:rowId xmlns:a16="http://schemas.microsoft.com/office/drawing/2014/main" val="2016223895"/>
                  </a:ext>
                </a:extLst>
              </a:tr>
              <a:tr h="36274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 dirty="0">
                          <a:effectLst/>
                        </a:rPr>
                        <a:t>Support for Form Data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Easy to handle multipart form data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Easy to handle multipart form data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Can handle but requires more effort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extLst>
                  <a:ext uri="{0D108BD9-81ED-4DB2-BD59-A6C34878D82A}">
                    <a16:rowId xmlns:a16="http://schemas.microsoft.com/office/drawing/2014/main" val="2579838855"/>
                  </a:ext>
                </a:extLst>
              </a:tr>
              <a:tr h="5441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 dirty="0">
                          <a:effectLst/>
                        </a:rPr>
                        <a:t>Cross-Site Request Forgery (CSRF)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Automatically handles CSRF tokens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Does not automatically handle CSRF tokens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No automatic handling for CSRF tokens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extLst>
                  <a:ext uri="{0D108BD9-81ED-4DB2-BD59-A6C34878D82A}">
                    <a16:rowId xmlns:a16="http://schemas.microsoft.com/office/drawing/2014/main" val="298704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5516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/>
              <a:t>Installation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5C9663-C6D3-DDD8-8AAE-CB9A8F2AA91A}"/>
              </a:ext>
            </a:extLst>
          </p:cNvPr>
          <p:cNvSpPr txBox="1"/>
          <p:nvPr/>
        </p:nvSpPr>
        <p:spPr>
          <a:xfrm>
            <a:off x="171450" y="2209524"/>
            <a:ext cx="88011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/>
              <a:t>Use following command inside the frontend project </a:t>
            </a:r>
          </a:p>
          <a:p>
            <a:pPr marL="0" indent="0">
              <a:buNone/>
            </a:pPr>
            <a:r>
              <a:rPr lang="en-US" sz="2400" b="0" i="0" dirty="0" err="1">
                <a:solidFill>
                  <a:srgbClr val="671DDF"/>
                </a:solidFill>
                <a:effectLst/>
                <a:latin typeface="Consolas" panose="020B0609020204030204" pitchFamily="49" charset="0"/>
              </a:rPr>
              <a:t>npm</a:t>
            </a:r>
            <a:r>
              <a:rPr lang="en-US" sz="2400" b="0" i="0" dirty="0">
                <a:solidFill>
                  <a:srgbClr val="33333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i="0" dirty="0">
                <a:solidFill>
                  <a:srgbClr val="671DDF"/>
                </a:solidFill>
                <a:effectLst/>
                <a:latin typeface="Consolas" panose="020B0609020204030204" pitchFamily="49" charset="0"/>
              </a:rPr>
              <a:t>install</a:t>
            </a:r>
            <a:r>
              <a:rPr lang="en-US" sz="2400" b="0" i="0" dirty="0">
                <a:solidFill>
                  <a:srgbClr val="33333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i="0" dirty="0" err="1">
                <a:solidFill>
                  <a:srgbClr val="33333C"/>
                </a:solidFill>
                <a:effectLst/>
                <a:latin typeface="Consolas" panose="020B0609020204030204" pitchFamily="49" charset="0"/>
              </a:rPr>
              <a:t>axios</a:t>
            </a:r>
            <a:endParaRPr lang="en-US" sz="2400" b="0" i="0" dirty="0">
              <a:solidFill>
                <a:srgbClr val="33333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400" dirty="0">
              <a:solidFill>
                <a:srgbClr val="33333C"/>
              </a:solidFill>
              <a:latin typeface="Roboto Mono" panose="00000009000000000000" pitchFamily="49" charset="0"/>
            </a:endParaRPr>
          </a:p>
          <a:p>
            <a:pPr marL="0" indent="0">
              <a:buNone/>
            </a:pPr>
            <a:r>
              <a:rPr lang="en-US" sz="2400" dirty="0"/>
              <a:t>Then include </a:t>
            </a:r>
            <a:r>
              <a:rPr lang="en-US" sz="2400" dirty="0" err="1"/>
              <a:t>Axios</a:t>
            </a:r>
            <a:r>
              <a:rPr lang="en-US" sz="2400" dirty="0"/>
              <a:t> in the file where you want to use it</a:t>
            </a:r>
          </a:p>
          <a:p>
            <a:pPr marL="0" indent="0"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import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axios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from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'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32F62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axios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'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51441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 err="1"/>
              <a:t>Axios</a:t>
            </a:r>
            <a:r>
              <a:rPr lang="en-US" sz="4400" dirty="0"/>
              <a:t> Example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0645E5-7B02-0BD8-68D5-2A2A0815E017}"/>
              </a:ext>
            </a:extLst>
          </p:cNvPr>
          <p:cNvSpPr txBox="1"/>
          <p:nvPr/>
        </p:nvSpPr>
        <p:spPr>
          <a:xfrm>
            <a:off x="274382" y="2414638"/>
            <a:ext cx="85757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getUser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axios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‘http://localhost:3000/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user?ID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=12345'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E42D94-4F82-B07B-1BBE-0C9B5486C0FF}"/>
              </a:ext>
            </a:extLst>
          </p:cNvPr>
          <p:cNvSpPr txBox="1"/>
          <p:nvPr/>
        </p:nvSpPr>
        <p:spPr>
          <a:xfrm>
            <a:off x="274382" y="4755619"/>
            <a:ext cx="8575704" cy="230832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getUser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axios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 http://localhost:3000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/user'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{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ID: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12345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});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6F46C-B587-9EC7-2748-5DD5ECD9D108}"/>
              </a:ext>
            </a:extLst>
          </p:cNvPr>
          <p:cNvSpPr txBox="1"/>
          <p:nvPr/>
        </p:nvSpPr>
        <p:spPr>
          <a:xfrm>
            <a:off x="375553" y="2104393"/>
            <a:ext cx="4523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Axios</a:t>
            </a:r>
            <a:r>
              <a:rPr lang="en-US" dirty="0"/>
              <a:t> Get Example with parameter in route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823E44-A632-957D-8AB5-3EECDB24C0A0}"/>
              </a:ext>
            </a:extLst>
          </p:cNvPr>
          <p:cNvSpPr txBox="1"/>
          <p:nvPr/>
        </p:nvSpPr>
        <p:spPr>
          <a:xfrm>
            <a:off x="293914" y="4431514"/>
            <a:ext cx="6498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Axios</a:t>
            </a:r>
            <a:r>
              <a:rPr lang="en-US" dirty="0"/>
              <a:t> Get Example with parameter as JSON object</a:t>
            </a:r>
          </a:p>
        </p:txBody>
      </p:sp>
    </p:spTree>
    <p:extLst>
      <p:ext uri="{BB962C8B-B14F-4D97-AF65-F5344CB8AC3E}">
        <p14:creationId xmlns:p14="http://schemas.microsoft.com/office/powerpoint/2010/main" val="660878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 err="1"/>
              <a:t>Axios</a:t>
            </a:r>
            <a:r>
              <a:rPr lang="en-US" sz="4400" dirty="0"/>
              <a:t> Example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388908-4415-FF53-730C-BC3F5A997969}"/>
              </a:ext>
            </a:extLst>
          </p:cNvPr>
          <p:cNvSpPr txBox="1"/>
          <p:nvPr/>
        </p:nvSpPr>
        <p:spPr>
          <a:xfrm>
            <a:off x="277583" y="2732005"/>
            <a:ext cx="8588829" cy="397031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createUser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userData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firstName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'Fred'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lastName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'Flintstone'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axios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http://localhost:3000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/user'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userData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D020F9-56C7-CED2-4724-2399D9297828}"/>
              </a:ext>
            </a:extLst>
          </p:cNvPr>
          <p:cNvSpPr txBox="1"/>
          <p:nvPr/>
        </p:nvSpPr>
        <p:spPr>
          <a:xfrm>
            <a:off x="326571" y="2172450"/>
            <a:ext cx="77567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Performing a POST request with JSON object</a:t>
            </a:r>
          </a:p>
        </p:txBody>
      </p:sp>
    </p:spTree>
    <p:extLst>
      <p:ext uri="{BB962C8B-B14F-4D97-AF65-F5344CB8AC3E}">
        <p14:creationId xmlns:p14="http://schemas.microsoft.com/office/powerpoint/2010/main" val="4260422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 err="1"/>
              <a:t>Axios</a:t>
            </a:r>
            <a:r>
              <a:rPr lang="en-US" sz="4400" dirty="0"/>
              <a:t> Example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388908-4415-FF53-730C-BC3F5A997969}"/>
              </a:ext>
            </a:extLst>
          </p:cNvPr>
          <p:cNvSpPr txBox="1"/>
          <p:nvPr/>
        </p:nvSpPr>
        <p:spPr>
          <a:xfrm>
            <a:off x="277583" y="2732005"/>
            <a:ext cx="8588829" cy="397031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createUser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userData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firstName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'Fred'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lastName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'Flintstone'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axios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http://localhost:3000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/user'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userData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D020F9-56C7-CED2-4724-2399D9297828}"/>
              </a:ext>
            </a:extLst>
          </p:cNvPr>
          <p:cNvSpPr txBox="1"/>
          <p:nvPr/>
        </p:nvSpPr>
        <p:spPr>
          <a:xfrm>
            <a:off x="326571" y="2172450"/>
            <a:ext cx="77567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Post an HTML form as JSON</a:t>
            </a:r>
          </a:p>
        </p:txBody>
      </p:sp>
    </p:spTree>
    <p:extLst>
      <p:ext uri="{BB962C8B-B14F-4D97-AF65-F5344CB8AC3E}">
        <p14:creationId xmlns:p14="http://schemas.microsoft.com/office/powerpoint/2010/main" val="795787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 err="1"/>
              <a:t>Axios</a:t>
            </a:r>
            <a:r>
              <a:rPr lang="en-US" sz="4400" dirty="0"/>
              <a:t> Example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388908-4415-FF53-730C-BC3F5A997969}"/>
              </a:ext>
            </a:extLst>
          </p:cNvPr>
          <p:cNvSpPr txBox="1"/>
          <p:nvPr/>
        </p:nvSpPr>
        <p:spPr>
          <a:xfrm>
            <a:off x="293912" y="2438088"/>
            <a:ext cx="8588829" cy="440120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postData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formData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FormData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formData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firstName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'Fred'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formData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lastName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'Flintstone'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formData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'orders'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formData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'photo'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querySelector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'#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fileInput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files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b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axios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post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http://localhost:3000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/post'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formData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{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headers: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'Content-Type'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'multipart/form-data'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});</a:t>
            </a:r>
          </a:p>
          <a:p>
            <a:b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D020F9-56C7-CED2-4724-2399D9297828}"/>
              </a:ext>
            </a:extLst>
          </p:cNvPr>
          <p:cNvSpPr txBox="1"/>
          <p:nvPr/>
        </p:nvSpPr>
        <p:spPr>
          <a:xfrm>
            <a:off x="326571" y="2058147"/>
            <a:ext cx="77567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Post an HTML form </a:t>
            </a:r>
          </a:p>
        </p:txBody>
      </p:sp>
    </p:spTree>
    <p:extLst>
      <p:ext uri="{BB962C8B-B14F-4D97-AF65-F5344CB8AC3E}">
        <p14:creationId xmlns:p14="http://schemas.microsoft.com/office/powerpoint/2010/main" val="1865586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 err="1"/>
              <a:t>Axios</a:t>
            </a:r>
            <a:r>
              <a:rPr lang="en-US" sz="4400" dirty="0"/>
              <a:t> Example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388908-4415-FF53-730C-BC3F5A997969}"/>
              </a:ext>
            </a:extLst>
          </p:cNvPr>
          <p:cNvSpPr txBox="1"/>
          <p:nvPr/>
        </p:nvSpPr>
        <p:spPr>
          <a:xfrm>
            <a:off x="277585" y="2421759"/>
            <a:ext cx="8588829" cy="440120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updateData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firstName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'John'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lastName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'Doe'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age: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b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axios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 http://localhost:3000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/users/123'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{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headers: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'Content-Type'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'application/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});</a:t>
            </a:r>
          </a:p>
          <a:p>
            <a:b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updatedData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updatedData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D020F9-56C7-CED2-4724-2399D9297828}"/>
              </a:ext>
            </a:extLst>
          </p:cNvPr>
          <p:cNvSpPr txBox="1"/>
          <p:nvPr/>
        </p:nvSpPr>
        <p:spPr>
          <a:xfrm>
            <a:off x="323370" y="2021649"/>
            <a:ext cx="77567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PUT Request </a:t>
            </a:r>
          </a:p>
        </p:txBody>
      </p:sp>
    </p:spTree>
    <p:extLst>
      <p:ext uri="{BB962C8B-B14F-4D97-AF65-F5344CB8AC3E}">
        <p14:creationId xmlns:p14="http://schemas.microsoft.com/office/powerpoint/2010/main" val="863792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 err="1"/>
              <a:t>Axios</a:t>
            </a:r>
            <a:r>
              <a:rPr lang="en-US" sz="4400" dirty="0"/>
              <a:t> Example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388908-4415-FF53-730C-BC3F5A997969}"/>
              </a:ext>
            </a:extLst>
          </p:cNvPr>
          <p:cNvSpPr txBox="1"/>
          <p:nvPr/>
        </p:nvSpPr>
        <p:spPr>
          <a:xfrm>
            <a:off x="293914" y="2429268"/>
            <a:ext cx="8588829" cy="34163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deleteData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axios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http://localhost:3000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/users/123'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'Data deleted successfully'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D020F9-56C7-CED2-4724-2399D9297828}"/>
              </a:ext>
            </a:extLst>
          </p:cNvPr>
          <p:cNvSpPr txBox="1"/>
          <p:nvPr/>
        </p:nvSpPr>
        <p:spPr>
          <a:xfrm>
            <a:off x="323370" y="2021649"/>
            <a:ext cx="77567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DELETE Request </a:t>
            </a:r>
          </a:p>
        </p:txBody>
      </p:sp>
    </p:spTree>
    <p:extLst>
      <p:ext uri="{BB962C8B-B14F-4D97-AF65-F5344CB8AC3E}">
        <p14:creationId xmlns:p14="http://schemas.microsoft.com/office/powerpoint/2010/main" val="1048323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6877530" cy="1183852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Creating Environment Variable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D020F9-56C7-CED2-4724-2399D9297828}"/>
              </a:ext>
            </a:extLst>
          </p:cNvPr>
          <p:cNvSpPr txBox="1"/>
          <p:nvPr/>
        </p:nvSpPr>
        <p:spPr>
          <a:xfrm>
            <a:off x="293914" y="2029158"/>
            <a:ext cx="506376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Create a file name in your project folder and name it </a:t>
            </a:r>
            <a:r>
              <a:rPr lang="en-US" sz="2000" b="1" dirty="0"/>
              <a:t>.env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C916C22-B64F-4F53-E446-D29968584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7415" y="2290417"/>
            <a:ext cx="1876687" cy="3858163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81A2A7E-4BC5-E016-8043-A351C6F306C3}"/>
              </a:ext>
            </a:extLst>
          </p:cNvPr>
          <p:cNvCxnSpPr/>
          <p:nvPr/>
        </p:nvCxnSpPr>
        <p:spPr>
          <a:xfrm>
            <a:off x="4098473" y="3951515"/>
            <a:ext cx="14369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404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6877530" cy="1183852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Creating Environment Variable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B1F44C-DD41-E0A1-7D84-63F39D7636F8}"/>
              </a:ext>
            </a:extLst>
          </p:cNvPr>
          <p:cNvSpPr txBox="1"/>
          <p:nvPr/>
        </p:nvSpPr>
        <p:spPr>
          <a:xfrm>
            <a:off x="421342" y="2563586"/>
            <a:ext cx="80368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environment variables in this file in the format KEY=VALUE</a:t>
            </a:r>
          </a:p>
          <a:p>
            <a:r>
              <a:rPr lang="en-US" dirty="0"/>
              <a:t>Must use the prefix </a:t>
            </a:r>
            <a:r>
              <a:rPr lang="en-US" b="1" dirty="0"/>
              <a:t>NEXT_PUBLIC_ </a:t>
            </a:r>
            <a:r>
              <a:rPr lang="en-US" dirty="0"/>
              <a:t>before creating a key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C9A0E2-07D0-0EE8-A64D-968D2F47A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859" y="3697429"/>
            <a:ext cx="6924220" cy="118936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817094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6877530" cy="1183852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Creating Environment Variable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B1F44C-DD41-E0A1-7D84-63F39D7636F8}"/>
              </a:ext>
            </a:extLst>
          </p:cNvPr>
          <p:cNvSpPr txBox="1"/>
          <p:nvPr/>
        </p:nvSpPr>
        <p:spPr>
          <a:xfrm>
            <a:off x="421341" y="2155372"/>
            <a:ext cx="8036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 </a:t>
            </a:r>
            <a:r>
              <a:rPr lang="en-US" b="1" dirty="0" err="1"/>
              <a:t>process.env</a:t>
            </a:r>
            <a:r>
              <a:rPr lang="en-US" b="1" dirty="0"/>
              <a:t> </a:t>
            </a:r>
            <a:r>
              <a:rPr lang="en-US" dirty="0"/>
              <a:t>to get the environment variable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500FA3-227E-D82D-C808-3DCAFF1F6CF9}"/>
              </a:ext>
            </a:extLst>
          </p:cNvPr>
          <p:cNvSpPr txBox="1"/>
          <p:nvPr/>
        </p:nvSpPr>
        <p:spPr>
          <a:xfrm>
            <a:off x="406351" y="2902136"/>
            <a:ext cx="837629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get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axios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process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env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70C1"/>
                </a:solidFill>
                <a:latin typeface="Consolas" panose="020B0609020204030204" pitchFamily="49" charset="0"/>
              </a:rPr>
              <a:t>NEXT_PUBLIC_API</a:t>
            </a:r>
            <a:r>
              <a:rPr lang="en-US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_ENDPOINT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56890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6877530" cy="1183852"/>
          </a:xfrm>
        </p:spPr>
        <p:txBody>
          <a:bodyPr>
            <a:normAutofit/>
          </a:bodyPr>
          <a:lstStyle/>
          <a:p>
            <a:r>
              <a:rPr lang="en-US" sz="4400" dirty="0"/>
              <a:t>Extract AXIOs Response 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F2BABE-EA54-E05E-872C-1079AFE92C5E}"/>
              </a:ext>
            </a:extLst>
          </p:cNvPr>
          <p:cNvSpPr txBox="1"/>
          <p:nvPr/>
        </p:nvSpPr>
        <p:spPr>
          <a:xfrm>
            <a:off x="421341" y="2080644"/>
            <a:ext cx="80437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The </a:t>
            </a:r>
            <a:r>
              <a:rPr lang="en-US" sz="2400" b="1" dirty="0" err="1"/>
              <a:t>Array.isArray</a:t>
            </a:r>
            <a:r>
              <a:rPr lang="en-US" sz="2400" b="1" dirty="0"/>
              <a:t>()</a:t>
            </a:r>
            <a:r>
              <a:rPr lang="en-US" sz="2400" dirty="0"/>
              <a:t> static method determines whether the passed value is an Array.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09D7F3-9BE7-B44B-F17C-1280A1FF650B}"/>
              </a:ext>
            </a:extLst>
          </p:cNvPr>
          <p:cNvSpPr txBox="1"/>
          <p:nvPr/>
        </p:nvSpPr>
        <p:spPr>
          <a:xfrm>
            <a:off x="484907" y="2925635"/>
            <a:ext cx="7924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true if value is an Array; otherwise, false.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A03FC4-3D69-0E38-0493-8C4B8057767F}"/>
              </a:ext>
            </a:extLst>
          </p:cNvPr>
          <p:cNvSpPr txBox="1"/>
          <p:nvPr/>
        </p:nvSpPr>
        <p:spPr>
          <a:xfrm>
            <a:off x="2157234" y="3660017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isArray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547416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6877530" cy="1183852"/>
          </a:xfrm>
        </p:spPr>
        <p:txBody>
          <a:bodyPr>
            <a:normAutofit/>
          </a:bodyPr>
          <a:lstStyle/>
          <a:p>
            <a:r>
              <a:rPr lang="en-US" sz="4400" dirty="0"/>
              <a:t>Extract AXIOs Response 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31F968-57DE-01E7-0F91-D44A1FCC1FDB}"/>
              </a:ext>
            </a:extLst>
          </p:cNvPr>
          <p:cNvSpPr txBox="1"/>
          <p:nvPr/>
        </p:nvSpPr>
        <p:spPr>
          <a:xfrm>
            <a:off x="193964" y="1958391"/>
            <a:ext cx="8326581" cy="483209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useEffect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'react'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axios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axios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AllAdmin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jsonData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setJsonData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useEffect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(()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fetchData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}, []);</a:t>
            </a:r>
          </a:p>
          <a:p>
            <a:b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fetchData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process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env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NEXT_PUBLIC_API_ENDPOINT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"/admin/index"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axios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process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env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NEXT_PUBLIC_API_ENDPOINT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"/admin/index"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jsonData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jsonData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setJsonData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jsonData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1031771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6877530" cy="1183852"/>
          </a:xfrm>
        </p:spPr>
        <p:txBody>
          <a:bodyPr>
            <a:normAutofit/>
          </a:bodyPr>
          <a:lstStyle/>
          <a:p>
            <a:r>
              <a:rPr lang="en-US" sz="4400" dirty="0"/>
              <a:t>Extract AXIOs Response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CC5B11-0645-8BCB-3B01-884CC8949104}"/>
              </a:ext>
            </a:extLst>
          </p:cNvPr>
          <p:cNvSpPr txBox="1"/>
          <p:nvPr/>
        </p:nvSpPr>
        <p:spPr>
          <a:xfrm>
            <a:off x="239842" y="2016886"/>
            <a:ext cx="8769247" cy="449353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printArray</a:t>
            </a:r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jsonData</a:t>
            </a:r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jsonData</a:t>
            </a:r>
            <a:r>
              <a:rPr lang="en-US" sz="11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1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b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1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process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env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NEXT_PUBLIC_API_ENDPOINT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'/admin/</a:t>
            </a:r>
            <a:r>
              <a:rPr lang="en-US" sz="11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getimage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/'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filenames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&lt;h2&gt;</a:t>
            </a:r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id: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&lt;/h2&gt;</a:t>
            </a:r>
            <a:endParaRPr lang="en-US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&lt;h2&gt;</a:t>
            </a:r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name: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&lt;/h2&gt;</a:t>
            </a:r>
            <a:endParaRPr lang="en-US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&lt;h2&gt;</a:t>
            </a:r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email: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&lt;/h2&gt;</a:t>
            </a:r>
            <a:b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1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hr</a:t>
            </a:r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);</a:t>
            </a:r>
            <a:b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})</a:t>
            </a:r>
          </a:p>
          <a:p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printObject</a:t>
            </a:r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jsonData</a:t>
            </a:r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US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1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asdsd</a:t>
            </a:r>
            <a:endParaRPr lang="en-US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1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process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env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NEXT_PUBLIC_API_ENDPOINT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'/admin/</a:t>
            </a:r>
            <a:r>
              <a:rPr lang="en-US" sz="11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getimage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/'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jsonData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filenames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&lt;h2&gt;</a:t>
            </a:r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id: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jsonData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&lt;/h2&gt;</a:t>
            </a:r>
            <a:endParaRPr lang="en-US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&lt;h2&gt;</a:t>
            </a:r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name: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jsonData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&lt;/h2&gt;</a:t>
            </a:r>
            <a:endParaRPr lang="en-US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&lt;h2&gt;</a:t>
            </a:r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email: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jsonData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&lt;/h2&gt;</a:t>
            </a:r>
            <a:b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22143945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6877530" cy="1183852"/>
          </a:xfrm>
        </p:spPr>
        <p:txBody>
          <a:bodyPr>
            <a:normAutofit/>
          </a:bodyPr>
          <a:lstStyle/>
          <a:p>
            <a:r>
              <a:rPr lang="en-US" sz="4400" dirty="0"/>
              <a:t>Extract AXIOs Response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CC5B11-0645-8BCB-3B01-884CC8949104}"/>
              </a:ext>
            </a:extLst>
          </p:cNvPr>
          <p:cNvSpPr txBox="1"/>
          <p:nvPr/>
        </p:nvSpPr>
        <p:spPr>
          <a:xfrm>
            <a:off x="239842" y="2016886"/>
            <a:ext cx="8769247" cy="280076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b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&lt;&gt;</a:t>
            </a:r>
            <a:endParaRPr lang="en-US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1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jsonData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</a:t>
            </a:r>
            <a:endParaRPr lang="en-US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US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1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isArray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jsonData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? </a:t>
            </a:r>
            <a:r>
              <a:rPr lang="en-US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printArray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jsonData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: </a:t>
            </a:r>
            <a:r>
              <a:rPr lang="en-US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printObject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jsonData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&lt;/&gt;</a:t>
            </a:r>
            <a:endParaRPr lang="en-US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83424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>
                <a:solidFill>
                  <a:schemeClr val="tx1"/>
                </a:solidFill>
                <a:latin typeface="Cambria" panose="02040503050406030204" pitchFamily="18" charset="0"/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622597" y="1939139"/>
            <a:ext cx="76099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W3Schools Online Web Tutorials, URL: </a:t>
            </a:r>
            <a:r>
              <a:rPr lang="en-US" sz="1800" b="1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hlinkClick r:id="rId2"/>
              </a:rPr>
              <a:t>http://www.w3schools.com</a:t>
            </a:r>
            <a:endParaRPr lang="en-US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34290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Next.js, URL: </a:t>
            </a:r>
            <a:r>
              <a:rPr lang="en-US" dirty="0">
                <a:hlinkClick r:id="rId3"/>
              </a:rPr>
              <a:t>https://nextjs.org/</a:t>
            </a:r>
            <a:endParaRPr lang="en-US" dirty="0">
              <a:latin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>
                <a:latin typeface="Times New Roman" panose="02020603050405020304" pitchFamily="18" charset="0"/>
              </a:rPr>
              <a:t>Mozilla Developer Networks, URL: </a:t>
            </a:r>
            <a:r>
              <a:rPr lang="en-US" dirty="0">
                <a:hlinkClick r:id="rId4"/>
              </a:rPr>
              <a:t>https://developer.mozilla.org/</a:t>
            </a:r>
            <a:endParaRPr lang="en-US" dirty="0"/>
          </a:p>
          <a:p>
            <a:pPr marL="34290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>
                <a:latin typeface="Times New Roman" panose="02020603050405020304" pitchFamily="18" charset="0"/>
              </a:rPr>
              <a:t>AXIOS Documentation, URL: </a:t>
            </a:r>
            <a:r>
              <a:rPr lang="en-US" dirty="0">
                <a:hlinkClick r:id="rId5"/>
              </a:rPr>
              <a:t>https://axios-http.com/docs/post_example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3062145" y="3429000"/>
            <a:ext cx="26418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>
                <a:latin typeface="Cambria" panose="02040503050406030204" pitchFamily="18" charset="0"/>
                <a:ea typeface="Cambria" panose="02040503050406030204" pitchFamily="18" charset="0"/>
              </a:rPr>
              <a:t>Thank You!</a:t>
            </a:r>
            <a:endParaRPr lang="x-none" sz="40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7291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1156</TotalTime>
  <Words>1634</Words>
  <Application>Microsoft Office PowerPoint</Application>
  <PresentationFormat>On-screen Show (4:3)</PresentationFormat>
  <Paragraphs>259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Aptos Narrow</vt:lpstr>
      <vt:lpstr>Arial</vt:lpstr>
      <vt:lpstr>Calibri</vt:lpstr>
      <vt:lpstr>Cambria</vt:lpstr>
      <vt:lpstr>Consolas</vt:lpstr>
      <vt:lpstr>Corbel</vt:lpstr>
      <vt:lpstr>Roboto Mono</vt:lpstr>
      <vt:lpstr>Times New Roman</vt:lpstr>
      <vt:lpstr>Wingdings</vt:lpstr>
      <vt:lpstr>Spectrum</vt:lpstr>
      <vt:lpstr>AXIOS</vt:lpstr>
      <vt:lpstr>Lecture Outline</vt:lpstr>
      <vt:lpstr>What is AXIOS</vt:lpstr>
      <vt:lpstr>PowerPoint Presentation</vt:lpstr>
      <vt:lpstr>Installation</vt:lpstr>
      <vt:lpstr>Axios Example</vt:lpstr>
      <vt:lpstr>Axios Example</vt:lpstr>
      <vt:lpstr>Axios Example</vt:lpstr>
      <vt:lpstr>Axios Example</vt:lpstr>
      <vt:lpstr>Axios Example</vt:lpstr>
      <vt:lpstr>Axios Example</vt:lpstr>
      <vt:lpstr>Creating Environment Variable</vt:lpstr>
      <vt:lpstr>Creating Environment Variable</vt:lpstr>
      <vt:lpstr>Creating Environment Variable</vt:lpstr>
      <vt:lpstr>Extract AXIOs Response </vt:lpstr>
      <vt:lpstr>Extract AXIOs Response </vt:lpstr>
      <vt:lpstr>Extract AXIOs Response </vt:lpstr>
      <vt:lpstr>Extract AXIOs Response 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3NP_Materials</dc:title>
  <dc:creator>Sazzad Hossain</dc:creator>
  <cp:lastModifiedBy>Sazzad Hossain</cp:lastModifiedBy>
  <cp:revision>351</cp:revision>
  <dcterms:created xsi:type="dcterms:W3CDTF">2018-12-10T17:20:29Z</dcterms:created>
  <dcterms:modified xsi:type="dcterms:W3CDTF">2025-09-02T07:46:55Z</dcterms:modified>
</cp:coreProperties>
</file>