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6" r:id="rId4"/>
    <p:sldId id="294" r:id="rId5"/>
    <p:sldId id="296" r:id="rId6"/>
    <p:sldId id="297" r:id="rId7"/>
    <p:sldId id="299" r:id="rId8"/>
    <p:sldId id="300" r:id="rId9"/>
    <p:sldId id="305" r:id="rId10"/>
    <p:sldId id="302" r:id="rId11"/>
    <p:sldId id="303" r:id="rId12"/>
    <p:sldId id="306" r:id="rId13"/>
    <p:sldId id="307" r:id="rId14"/>
    <p:sldId id="308" r:id="rId15"/>
    <p:sldId id="309" r:id="rId16"/>
    <p:sldId id="310" r:id="rId17"/>
    <p:sldId id="265" r:id="rId18"/>
    <p:sldId id="2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AF3124-D043-04D5-2497-5538A3D16ED9}" v="2" dt="2024-05-07T15:15:48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14" autoAdjust="0"/>
    <p:restoredTop sz="94217" autoAdjust="0"/>
  </p:normalViewPr>
  <p:slideViewPr>
    <p:cSldViewPr snapToGrid="0">
      <p:cViewPr varScale="1">
        <p:scale>
          <a:sx n="78" d="100"/>
          <a:sy n="78" d="100"/>
        </p:scale>
        <p:origin x="82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KUL MOBASSHIR" userId="S::21-44415-1@student.aiub.edu::8602e7b8-334d-4690-9f7e-a3475167f1c7" providerId="AD" clId="Web-{34AF3124-D043-04D5-2497-5538A3D16ED9}"/>
    <pc:docChg chg="modSld sldOrd">
      <pc:chgData name="SADIKUL MOBASSHIR" userId="S::21-44415-1@student.aiub.edu::8602e7b8-334d-4690-9f7e-a3475167f1c7" providerId="AD" clId="Web-{34AF3124-D043-04D5-2497-5538A3D16ED9}" dt="2024-05-07T15:15:48.743" v="1" actId="1076"/>
      <pc:docMkLst>
        <pc:docMk/>
      </pc:docMkLst>
      <pc:sldChg chg="ord">
        <pc:chgData name="SADIKUL MOBASSHIR" userId="S::21-44415-1@student.aiub.edu::8602e7b8-334d-4690-9f7e-a3475167f1c7" providerId="AD" clId="Web-{34AF3124-D043-04D5-2497-5538A3D16ED9}" dt="2024-05-07T14:38:03.891" v="0"/>
        <pc:sldMkLst>
          <pc:docMk/>
          <pc:sldMk cId="2134390752" sldId="266"/>
        </pc:sldMkLst>
      </pc:sldChg>
      <pc:sldChg chg="modSp">
        <pc:chgData name="SADIKUL MOBASSHIR" userId="S::21-44415-1@student.aiub.edu::8602e7b8-334d-4690-9f7e-a3475167f1c7" providerId="AD" clId="Web-{34AF3124-D043-04D5-2497-5538A3D16ED9}" dt="2024-05-07T15:15:48.743" v="1" actId="1076"/>
        <pc:sldMkLst>
          <pc:docMk/>
          <pc:sldMk cId="1755236582" sldId="310"/>
        </pc:sldMkLst>
        <pc:spChg chg="mod">
          <ac:chgData name="SADIKUL MOBASSHIR" userId="S::21-44415-1@student.aiub.edu::8602e7b8-334d-4690-9f7e-a3475167f1c7" providerId="AD" clId="Web-{34AF3124-D043-04D5-2497-5538A3D16ED9}" dt="2024-05-07T15:15:48.743" v="1" actId="1076"/>
          <ac:spMkLst>
            <pc:docMk/>
            <pc:sldMk cId="1755236582" sldId="310"/>
            <ac:spMk id="5" creationId="{853A1156-4BEF-E172-55CC-559283410F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7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1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react/showreact.asp?filename=demo2_react_events_handle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React Core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72788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React Core Concepts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Functional components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Props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State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Hooks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JSX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React Events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React Core Concepts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064303" y="2478705"/>
            <a:ext cx="7808976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/>
              <a:t>Following are the core ReactJS component That uses in </a:t>
            </a:r>
            <a:r>
              <a:rPr lang="en-US" sz="2400" dirty="0" err="1"/>
              <a:t>NextJS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Functional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State and Props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React Hooks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Functional components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BF80F-4F58-1E07-DD6A-F41DA90AD1D8}"/>
              </a:ext>
            </a:extLst>
          </p:cNvPr>
          <p:cNvSpPr txBox="1"/>
          <p:nvPr/>
        </p:nvSpPr>
        <p:spPr>
          <a:xfrm>
            <a:off x="187377" y="1963472"/>
            <a:ext cx="86718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576072">
              <a:spcBef>
                <a:spcPts val="630"/>
              </a:spcBef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Functional components are the simplest type of React components. They are JavaScript functions that </a:t>
            </a: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JSX, describing what should be </a:t>
            </a: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rendered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the screen. They do not have state or lifecycle methods, making them lightweight and easy to understand.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E7D7C-72F1-B89E-F885-AAD0A956D675}"/>
              </a:ext>
            </a:extLst>
          </p:cNvPr>
          <p:cNvSpPr txBox="1"/>
          <p:nvPr/>
        </p:nvSpPr>
        <p:spPr>
          <a:xfrm>
            <a:off x="1067570" y="3959463"/>
            <a:ext cx="5633308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React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A31515"/>
                </a:solidFill>
                <a:latin typeface="Consolas" panose="020B0609020204030204" pitchFamily="49" charset="0"/>
                <a:ea typeface="+mn-ea"/>
                <a:cs typeface="+mn-cs"/>
              </a:rPr>
              <a:t>'react'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b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kern="120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b="1" kern="1200" dirty="0" err="1">
                <a:solidFill>
                  <a:srgbClr val="795E26"/>
                </a:solidFill>
                <a:latin typeface="Consolas" panose="020B0609020204030204" pitchFamily="49" charset="0"/>
                <a:ea typeface="+mn-ea"/>
                <a:cs typeface="+mn-cs"/>
              </a:rPr>
              <a:t>FunctionalComponent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() {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&lt;</a:t>
            </a:r>
            <a:r>
              <a:rPr lang="en-US" kern="1200" dirty="0">
                <a:solidFill>
                  <a:srgbClr val="267F99"/>
                </a:solidFill>
                <a:latin typeface="Consolas" panose="020B0609020204030204" pitchFamily="49" charset="0"/>
                <a:ea typeface="+mn-ea"/>
                <a:cs typeface="+mn-cs"/>
              </a:rPr>
              <a:t>h1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Hello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lang="en-US" kern="1200" dirty="0">
                <a:solidFill>
                  <a:srgbClr val="0070C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am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functional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component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!&lt;/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h1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3B3B3B"/>
                </a:solidFill>
                <a:latin typeface="Consolas" panose="020B0609020204030204" pitchFamily="49" charset="0"/>
                <a:ea typeface="+mn-ea"/>
                <a:cs typeface="+mn-c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Props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421341" y="2194215"/>
            <a:ext cx="8227984" cy="3532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Props</a:t>
            </a:r>
            <a:r>
              <a:rPr lang="en-US" sz="2400" dirty="0"/>
              <a:t> (short for "properties") are a mechanism for </a:t>
            </a:r>
            <a:r>
              <a:rPr lang="en-US" sz="2400" b="1" dirty="0"/>
              <a:t>passing data</a:t>
            </a:r>
            <a:r>
              <a:rPr lang="en-US" sz="2400" dirty="0"/>
              <a:t> from a </a:t>
            </a:r>
            <a:r>
              <a:rPr lang="en-US" sz="2400" b="1" dirty="0"/>
              <a:t>parent</a:t>
            </a:r>
            <a:r>
              <a:rPr lang="en-US" sz="2400" dirty="0"/>
              <a:t> component to a </a:t>
            </a:r>
            <a:r>
              <a:rPr lang="en-US" sz="2400" b="1" dirty="0"/>
              <a:t>child</a:t>
            </a:r>
            <a:r>
              <a:rPr lang="en-US" sz="2400" dirty="0"/>
              <a:t> component. They allow you to customize and configure child components based on values provided by the parent component. Props are read-only and cannot be modified by the child component.</a:t>
            </a: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Props</a:t>
            </a:r>
            <a:endParaRPr lang="en-US" sz="3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A5F23-A735-33A7-90ED-20F192A04DA4}"/>
              </a:ext>
            </a:extLst>
          </p:cNvPr>
          <p:cNvSpPr txBox="1"/>
          <p:nvPr/>
        </p:nvSpPr>
        <p:spPr>
          <a:xfrm>
            <a:off x="256769" y="2544850"/>
            <a:ext cx="431523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//ParentComponent.js</a:t>
            </a:r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ParentComponent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Define props data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 Doe'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{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Pass props to the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ParentComponent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A6FB6-5324-CC12-EE18-7499B8287B11}"/>
              </a:ext>
            </a:extLst>
          </p:cNvPr>
          <p:cNvSpPr txBox="1"/>
          <p:nvPr/>
        </p:nvSpPr>
        <p:spPr>
          <a:xfrm>
            <a:off x="4693861" y="2534340"/>
            <a:ext cx="431523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//ChildComponent.js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props data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en-US" sz="1200">
                <a:solidFill>
                  <a:srgbClr val="0070C1"/>
                </a:solidFill>
                <a:latin typeface="Consolas" panose="020B0609020204030204" pitchFamily="49" charset="0"/>
              </a:rPr>
              <a:t>name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200">
                <a:solidFill>
                  <a:srgbClr val="0070C1"/>
                </a:solidFill>
                <a:latin typeface="Consolas" panose="020B0609020204030204" pitchFamily="49" charset="0"/>
              </a:rPr>
              <a:t>age</a:t>
            </a:r>
            <a:r>
              <a:rPr lang="en-US" sz="1200">
                <a:solidFill>
                  <a:srgbClr val="3B3B3B"/>
                </a:solidFill>
                <a:latin typeface="Consolas" panose="020B0609020204030204" pitchFamily="49" charset="0"/>
              </a:rPr>
              <a:t> } 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props.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name,props.age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years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ChildComponent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State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496292" y="2058338"/>
            <a:ext cx="82445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/>
              <a:t>State is a built-in feature that allows </a:t>
            </a:r>
            <a:r>
              <a:rPr lang="en-US" sz="2400" b="1" dirty="0"/>
              <a:t>you to manage and store data </a:t>
            </a:r>
            <a:r>
              <a:rPr lang="en-US" sz="2400" dirty="0"/>
              <a:t>within a component. It represents the </a:t>
            </a:r>
            <a:r>
              <a:rPr lang="en-US" sz="2400" b="1" dirty="0"/>
              <a:t>mutable data that can change over time </a:t>
            </a:r>
            <a:r>
              <a:rPr lang="en-US" sz="2400" dirty="0"/>
              <a:t>and affects how the component </a:t>
            </a:r>
            <a:r>
              <a:rPr lang="en-US" sz="2400" b="1" dirty="0"/>
              <a:t>renders</a:t>
            </a:r>
            <a:r>
              <a:rPr lang="en-US" sz="2400" dirty="0"/>
              <a:t> and </a:t>
            </a:r>
            <a:r>
              <a:rPr lang="en-US" sz="2400" b="1" dirty="0"/>
              <a:t>behaves</a:t>
            </a:r>
            <a:r>
              <a:rPr lang="en-US" sz="2400" dirty="0"/>
              <a:t>. When state data is updated, React automatically re-renders the component to reflect the changes.</a:t>
            </a:r>
          </a:p>
          <a:p>
            <a:pPr marL="0" indent="0">
              <a:buNone/>
            </a:pPr>
            <a:r>
              <a:rPr lang="en-US" sz="2400" dirty="0"/>
              <a:t>State is a </a:t>
            </a:r>
            <a:r>
              <a:rPr lang="en-US" sz="2400" b="1" dirty="0"/>
              <a:t>fundamental concept </a:t>
            </a:r>
            <a:r>
              <a:rPr lang="en-US" sz="2400" dirty="0"/>
              <a:t>in React that enables dynamic and interactive user interfaces. It allows components to </a:t>
            </a:r>
            <a:r>
              <a:rPr lang="en-US" sz="2400" b="1" dirty="0"/>
              <a:t>maintain their own local data and respond to user interactions,</a:t>
            </a:r>
            <a:r>
              <a:rPr lang="en-US" sz="2400" dirty="0"/>
              <a:t> making React applications more interactive and responsive.</a:t>
            </a:r>
          </a:p>
        </p:txBody>
      </p:sp>
    </p:spTree>
    <p:extLst>
      <p:ext uri="{BB962C8B-B14F-4D97-AF65-F5344CB8AC3E}">
        <p14:creationId xmlns:p14="http://schemas.microsoft.com/office/powerpoint/2010/main" val="227785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</a:rPr>
              <a:t>H</a:t>
            </a:r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ooks</a:t>
            </a:r>
            <a:endParaRPr lang="en-US" sz="3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CE7119-A0FD-C414-C11D-02694677A48F}"/>
              </a:ext>
            </a:extLst>
          </p:cNvPr>
          <p:cNvSpPr txBox="1">
            <a:spLocks/>
          </p:cNvSpPr>
          <p:nvPr/>
        </p:nvSpPr>
        <p:spPr>
          <a:xfrm>
            <a:off x="194873" y="921134"/>
            <a:ext cx="8949127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React hooks are functions introduced in React 16.8 that allow functional components to have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use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lifecycle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without the need for writing class components.</a:t>
            </a:r>
          </a:p>
          <a:p>
            <a:pPr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Hooks provide a more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straightforward and reusable way to manage state and perform side effects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functional components.</a:t>
            </a:r>
          </a:p>
        </p:txBody>
      </p:sp>
    </p:spTree>
    <p:extLst>
      <p:ext uri="{BB962C8B-B14F-4D97-AF65-F5344CB8AC3E}">
        <p14:creationId xmlns:p14="http://schemas.microsoft.com/office/powerpoint/2010/main" val="134362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</a:rPr>
              <a:t>H</a:t>
            </a:r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ooks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77037-06F5-C0DE-357B-D7FB1513418F}"/>
              </a:ext>
            </a:extLst>
          </p:cNvPr>
          <p:cNvSpPr txBox="1"/>
          <p:nvPr/>
        </p:nvSpPr>
        <p:spPr>
          <a:xfrm>
            <a:off x="288223" y="1964353"/>
            <a:ext cx="8585954" cy="48628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CounterComponent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hook to manage state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[</a:t>
            </a:r>
            <a:r>
              <a:rPr lang="en-US" sz="10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setCount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useState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hook to perform side effects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</a:t>
            </a:r>
            <a:r>
              <a:rPr lang="en-US" sz="10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useEffect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(() 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108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document</a:t>
            </a:r>
            <a:r>
              <a:rPr lang="en-US" sz="1000" b="0" dirty="0" err="1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108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title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`Count: 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${</a:t>
            </a:r>
            <a:r>
              <a:rPr lang="en-US" sz="10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`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}, [</a:t>
            </a:r>
            <a:r>
              <a:rPr lang="en-US" sz="1000" b="0" dirty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]);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to handle the increment button click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handleIncrement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to handle the decrement button click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handleDecrement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Counter: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handleIncrement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handleDecrement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Decrement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09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8904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</a:rPr>
              <a:t>H</a:t>
            </a:r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ooks</a:t>
            </a: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175BF-BCB7-076B-5BFB-153CB796B049}"/>
              </a:ext>
            </a:extLst>
          </p:cNvPr>
          <p:cNvSpPr txBox="1"/>
          <p:nvPr/>
        </p:nvSpPr>
        <p:spPr>
          <a:xfrm>
            <a:off x="273570" y="2329943"/>
            <a:ext cx="8596859" cy="43375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useState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useState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hook allows us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state to functional components.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We declare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variable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called count and its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updater function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setCount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calling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useState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(0) with an initial value of 0. We can now manage the state of count using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setCount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useEffect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useEffect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hook enables us to perform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side effects in functional components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In this example, we use it to update the document title with the current count value. The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useEffect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hook takes a function as its first argument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argument is an array of dependencies that specify when the effect should run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In this case, we pass [count] as the dependency array, so the effect will only run when the count state changes.</a:t>
            </a:r>
          </a:p>
        </p:txBody>
      </p:sp>
    </p:spTree>
    <p:extLst>
      <p:ext uri="{BB962C8B-B14F-4D97-AF65-F5344CB8AC3E}">
        <p14:creationId xmlns:p14="http://schemas.microsoft.com/office/powerpoint/2010/main" val="385308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JSX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9574F-0A59-318E-D759-A512E3097C7C}"/>
              </a:ext>
            </a:extLst>
          </p:cNvPr>
          <p:cNvSpPr txBox="1"/>
          <p:nvPr/>
        </p:nvSpPr>
        <p:spPr>
          <a:xfrm>
            <a:off x="273570" y="2045133"/>
            <a:ext cx="8596859" cy="14219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JSX (JavaScript XML)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a syntax extension for JavaScript used with React to describe the structure of UI components. It allows developers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HTML-like code within JavaScript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making it easier to create and visualize the component's UI.</a:t>
            </a:r>
          </a:p>
        </p:txBody>
      </p:sp>
    </p:spTree>
    <p:extLst>
      <p:ext uri="{BB962C8B-B14F-4D97-AF65-F5344CB8AC3E}">
        <p14:creationId xmlns:p14="http://schemas.microsoft.com/office/powerpoint/2010/main" val="357078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JSX</a:t>
            </a: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57ED3-6B20-CAC4-E240-BE590EF790BB}"/>
              </a:ext>
            </a:extLst>
          </p:cNvPr>
          <p:cNvSpPr txBox="1"/>
          <p:nvPr/>
        </p:nvSpPr>
        <p:spPr>
          <a:xfrm>
            <a:off x="273570" y="2006769"/>
            <a:ext cx="8596859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GreetingComponent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 Doe'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showGreeting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showGreeting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(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 : (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 greeting available.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83678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D1108-2EA7-64B6-CA6C-6DE60C1756C9}"/>
              </a:ext>
            </a:extLst>
          </p:cNvPr>
          <p:cNvSpPr txBox="1"/>
          <p:nvPr/>
        </p:nvSpPr>
        <p:spPr>
          <a:xfrm>
            <a:off x="273570" y="2045133"/>
            <a:ext cx="8596859" cy="1217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like HTML DOM events, React can perform actions based on user events.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React has the same events as HTML: click, change, mouseover etc.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55B859-8FE4-8FBB-5F28-35B1616C4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27" y="3318100"/>
            <a:ext cx="8596859" cy="1731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React events are written in </a:t>
            </a:r>
            <a:r>
              <a:rPr lang="en-US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camelCase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 syntax:</a:t>
            </a:r>
            <a:endParaRPr lang="en-US" altLang="en-US" dirty="0"/>
          </a:p>
          <a:p>
            <a:pPr defTabSz="685800"/>
            <a:r>
              <a:rPr lang="en-US" altLang="en-US" dirty="0" err="1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 instead of </a:t>
            </a:r>
            <a:r>
              <a:rPr lang="en-US" altLang="en-US" dirty="0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altLang="en-US" dirty="0"/>
          </a:p>
          <a:p>
            <a:pPr defTabSz="685800"/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React event handlers are written inside curly braces:</a:t>
            </a:r>
            <a:endParaRPr lang="en-US" altLang="en-US" dirty="0"/>
          </a:p>
          <a:p>
            <a:pPr defTabSz="685800"/>
            <a:r>
              <a:rPr lang="en-US" altLang="en-US" dirty="0" err="1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DC143C"/>
                </a:solidFill>
                <a:latin typeface="Consolas" panose="020B0609020204030204" pitchFamily="49" charset="0"/>
              </a:rPr>
              <a:t>={shoot}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  instead of </a:t>
            </a:r>
            <a:r>
              <a:rPr lang="en-US" altLang="en-US" dirty="0" err="1">
                <a:solidFill>
                  <a:srgbClr val="DC143C"/>
                </a:solidFill>
                <a:latin typeface="Consolas" panose="020B0609020204030204" pitchFamily="49" charset="0"/>
              </a:rPr>
              <a:t>onClick</a:t>
            </a:r>
            <a:r>
              <a:rPr lang="en-US" altLang="en-US" dirty="0">
                <a:solidFill>
                  <a:srgbClr val="DC143C"/>
                </a:solidFill>
                <a:latin typeface="Consolas" panose="020B0609020204030204" pitchFamily="49" charset="0"/>
              </a:rPr>
              <a:t>="shoot()"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sz="1800" dirty="0"/>
              <a:t>There are many events supported by React. Below are some popular events;</a:t>
            </a:r>
          </a:p>
          <a:p>
            <a:pPr defTabSz="68580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388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01BC5-6EDA-35BA-0F23-0C31B413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527" y="2221775"/>
            <a:ext cx="6062427" cy="2677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015DF3-662F-81A4-55D2-02F89F9144BF}"/>
              </a:ext>
            </a:extLst>
          </p:cNvPr>
          <p:cNvSpPr txBox="1"/>
          <p:nvPr/>
        </p:nvSpPr>
        <p:spPr>
          <a:xfrm>
            <a:off x="989617" y="5029482"/>
            <a:ext cx="81543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hlinkClick r:id="rId3"/>
              </a:rPr>
              <a:t>https://www.w3schools.com/react/showreact.asp?filename=demo2_react_events_handler</a:t>
            </a:r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34398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F90BD-8887-3219-88AD-C3B67198E434}"/>
              </a:ext>
            </a:extLst>
          </p:cNvPr>
          <p:cNvSpPr txBox="1"/>
          <p:nvPr/>
        </p:nvSpPr>
        <p:spPr>
          <a:xfrm>
            <a:off x="619795" y="243736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Keyboard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Focus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Form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Generic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Mouse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Pointer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Selection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Touch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UI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Wheel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Media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Image Events</a:t>
            </a:r>
          </a:p>
        </p:txBody>
      </p:sp>
    </p:spTree>
    <p:extLst>
      <p:ext uri="{BB962C8B-B14F-4D97-AF65-F5344CB8AC3E}">
        <p14:creationId xmlns:p14="http://schemas.microsoft.com/office/powerpoint/2010/main" val="1579441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React Events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BBC14-BC86-CA17-2DFB-797D93CE6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00" y="2162343"/>
            <a:ext cx="5156389" cy="25333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7379158-EF92-A081-4B37-2EA2C902B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42" y="4899664"/>
            <a:ext cx="4065318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defTabSz="425196">
              <a:spcAft>
                <a:spcPts val="450"/>
              </a:spcAft>
            </a:pPr>
            <a:r>
              <a:rPr lang="en-US" altLang="en-US" sz="2400" b="1">
                <a:solidFill>
                  <a:srgbClr val="1A1A1A"/>
                </a:solidFill>
                <a:latin typeface="+mn-lt"/>
              </a:rPr>
              <a:t>e</a:t>
            </a:r>
            <a:r>
              <a:rPr lang="en-US" altLang="en-US" sz="2400">
                <a:solidFill>
                  <a:srgbClr val="000000"/>
                </a:solidFill>
                <a:latin typeface="+mn-lt"/>
              </a:rPr>
              <a:t> is a synthetic event.</a:t>
            </a:r>
            <a:r>
              <a:rPr lang="en-US" altLang="en-US" sz="2400"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A1156-4BEF-E172-55CC-559283410FA8}"/>
              </a:ext>
            </a:extLst>
          </p:cNvPr>
          <p:cNvSpPr txBox="1"/>
          <p:nvPr/>
        </p:nvSpPr>
        <p:spPr>
          <a:xfrm>
            <a:off x="418890" y="5266208"/>
            <a:ext cx="8482815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425196" eaLnBrk="0" fontAlgn="base" hangingPunct="0">
              <a:spcBef>
                <a:spcPct val="0"/>
              </a:spcBef>
              <a:spcAft>
                <a:spcPts val="450"/>
              </a:spcAft>
            </a:pPr>
            <a:r>
              <a:rPr lang="en-US" sz="2100" dirty="0">
                <a:solidFill>
                  <a:srgbClr val="1A1A1A"/>
                </a:solidFill>
              </a:rPr>
              <a:t>The </a:t>
            </a:r>
            <a:r>
              <a:rPr lang="en-US" sz="2100" b="1" dirty="0" err="1">
                <a:solidFill>
                  <a:srgbClr val="1A1A1A"/>
                </a:solidFill>
              </a:rPr>
              <a:t>preventDefault</a:t>
            </a:r>
            <a:r>
              <a:rPr lang="en-US" sz="2100" b="1" dirty="0">
                <a:solidFill>
                  <a:srgbClr val="1A1A1A"/>
                </a:solidFill>
              </a:rPr>
              <a:t>() </a:t>
            </a:r>
            <a:r>
              <a:rPr lang="en-US" sz="2100" dirty="0">
                <a:solidFill>
                  <a:srgbClr val="1A1A1A"/>
                </a:solidFill>
              </a:rPr>
              <a:t>method cancels the event if it is cancelable, meaning that the default action that belongs to the event will not occur.</a:t>
            </a:r>
          </a:p>
        </p:txBody>
      </p:sp>
    </p:spTree>
    <p:extLst>
      <p:ext uri="{BB962C8B-B14F-4D97-AF65-F5344CB8AC3E}">
        <p14:creationId xmlns:p14="http://schemas.microsoft.com/office/powerpoint/2010/main" val="1755236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735</TotalTime>
  <Words>1147</Words>
  <Application>Microsoft Office PowerPoint</Application>
  <PresentationFormat>On-screen Show (4:3)</PresentationFormat>
  <Paragraphs>148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Cambria</vt:lpstr>
      <vt:lpstr>Consolas</vt:lpstr>
      <vt:lpstr>Corbel</vt:lpstr>
      <vt:lpstr>Segoe UI</vt:lpstr>
      <vt:lpstr>Times New Roman</vt:lpstr>
      <vt:lpstr>Verdana</vt:lpstr>
      <vt:lpstr>Wingdings</vt:lpstr>
      <vt:lpstr>Spectrum</vt:lpstr>
      <vt:lpstr>React Core Concepts</vt:lpstr>
      <vt:lpstr>Lecture Outline</vt:lpstr>
      <vt:lpstr>React Core Concepts</vt:lpstr>
      <vt:lpstr>Functional components </vt:lpstr>
      <vt:lpstr>Props</vt:lpstr>
      <vt:lpstr>Props</vt:lpstr>
      <vt:lpstr>State</vt:lpstr>
      <vt:lpstr>Hooks</vt:lpstr>
      <vt:lpstr>Hooks</vt:lpstr>
      <vt:lpstr>Hooks</vt:lpstr>
      <vt:lpstr>JSX</vt:lpstr>
      <vt:lpstr>JSX</vt:lpstr>
      <vt:lpstr>React Events</vt:lpstr>
      <vt:lpstr>React Events</vt:lpstr>
      <vt:lpstr>React Events</vt:lpstr>
      <vt:lpstr>React Events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195</cp:revision>
  <dcterms:created xsi:type="dcterms:W3CDTF">2018-12-10T17:20:29Z</dcterms:created>
  <dcterms:modified xsi:type="dcterms:W3CDTF">2025-08-24T07:57:21Z</dcterms:modified>
</cp:coreProperties>
</file>