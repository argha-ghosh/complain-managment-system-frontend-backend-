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66" r:id="rId4"/>
    <p:sldId id="336" r:id="rId5"/>
    <p:sldId id="320" r:id="rId6"/>
    <p:sldId id="337" r:id="rId7"/>
    <p:sldId id="338" r:id="rId8"/>
    <p:sldId id="321" r:id="rId9"/>
    <p:sldId id="323" r:id="rId10"/>
    <p:sldId id="324" r:id="rId11"/>
    <p:sldId id="265" r:id="rId12"/>
    <p:sldId id="29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003E1C"/>
    <a:srgbClr val="CE0285"/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47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138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F9039-4697-4EAE-8680-C01B2CCD6013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9819E-3E90-40F4-B43D-98EBE83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5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01708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4251665B-C24A-4702-B522-6A4334602E03}" type="datetimeFigureOut">
              <a:rPr lang="en-US" smtClean="0"/>
              <a:pPr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tailwindcss.com/docs/preflight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aisyui.com/" TargetMode="External"/><Relationship Id="rId2" Type="http://schemas.openxmlformats.org/officeDocument/2006/relationships/hyperlink" Target="https://tailblocks.cc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tailwind-elements.com/docs/standard/designblocks/landing-page/" TargetMode="External"/><Relationship Id="rId4" Type="http://schemas.openxmlformats.org/officeDocument/2006/relationships/hyperlink" Target="https://flowbite.com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tailwindcss.com/docs/installation" TargetMode="External"/><Relationship Id="rId4" Type="http://schemas.openxmlformats.org/officeDocument/2006/relationships/hyperlink" Target="https://developer.mozilla.org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6205" y="444291"/>
            <a:ext cx="7808976" cy="1088136"/>
          </a:xfrm>
        </p:spPr>
        <p:txBody>
          <a:bodyPr>
            <a:normAutofit/>
          </a:bodyPr>
          <a:lstStyle/>
          <a:p>
            <a:pPr algn="l"/>
            <a:r>
              <a:rPr lang="en-US" sz="2800" dirty="0" err="1">
                <a:solidFill>
                  <a:srgbClr val="FFFFFF"/>
                </a:solidFill>
              </a:rPr>
              <a:t>TailWind</a:t>
            </a:r>
            <a:r>
              <a:rPr lang="en-US" sz="2800" dirty="0">
                <a:solidFill>
                  <a:srgbClr val="FFFFFF"/>
                </a:solidFill>
              </a:rPr>
              <a:t> CSS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>
                <a:latin typeface="+mn-lt"/>
              </a:rPr>
              <a:t>Course Code: CSC 4182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574882"/>
              </p:ext>
            </p:extLst>
          </p:nvPr>
        </p:nvGraphicFramePr>
        <p:xfrm>
          <a:off x="476205" y="5264727"/>
          <a:ext cx="8335798" cy="7444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5913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2388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4391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00051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>
                          <a:latin typeface="Cambria" panose="02040503050406030204" pitchFamily="18" charset="0"/>
                        </a:rPr>
                        <a:t>Sazzad Hossain; sazzad@aiub.edu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850062" y="1532427"/>
            <a:ext cx="543511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Course Title: Advanced Programming In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Tailwind CSS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Key Features of Tailwind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Installation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Configure Project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Using </a:t>
            </a:r>
            <a:r>
              <a:rPr lang="en-US" dirty="0" err="1">
                <a:solidFill>
                  <a:schemeClr val="tx1"/>
                </a:solidFill>
              </a:rPr>
              <a:t>TailWind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Tailwind Documentation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Tailwind Resources 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Tailwind CSS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34538" y="2006444"/>
            <a:ext cx="8811491" cy="40934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Tailwind CSS is a popular utility-first CSS framework that provides a set of </a:t>
            </a:r>
            <a:r>
              <a:rPr lang="en-US" sz="2400" b="1" dirty="0"/>
              <a:t>pre-defined CSS classes </a:t>
            </a:r>
            <a:r>
              <a:rPr lang="en-US" sz="2400" dirty="0"/>
              <a:t>that you can use to style your HTML elements.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includes a comprehensive set of responsive design classes, which makes it easy to create responsive layouts for your website.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framework is designed to be </a:t>
            </a:r>
            <a:r>
              <a:rPr lang="en-US" sz="2400" b="1" dirty="0"/>
              <a:t>highly customizable </a:t>
            </a:r>
            <a:r>
              <a:rPr lang="en-US" sz="2400" dirty="0"/>
              <a:t>and modular, allowing </a:t>
            </a:r>
            <a:r>
              <a:rPr lang="en-US" sz="2400" b="1" dirty="0"/>
              <a:t>you to choose only the classes you need </a:t>
            </a:r>
            <a:r>
              <a:rPr lang="en-US" sz="2400" dirty="0"/>
              <a:t>and tailor them to your specific design requirements.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can help you achieve a more efficient workflow and faster development times.</a:t>
            </a:r>
          </a:p>
          <a:p>
            <a:pPr lvl="0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Key Features of Tailwind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34538" y="2006444"/>
            <a:ext cx="8811491" cy="477053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A comprehensive set of pre-defined utility classes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responsive design system that makes it easy to create responsive layouts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Customizable color, typography, and spacing options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modular architecture that makes it easy to customize and extend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Easy integration with popular front-end frameworks and tools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is also designed to be highly consistent and easy to maintain. </a:t>
            </a:r>
          </a:p>
          <a:p>
            <a:pPr lvl="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00715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Installation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C9663-C6D3-DDD8-8AAE-CB9A8F2AA91A}"/>
              </a:ext>
            </a:extLst>
          </p:cNvPr>
          <p:cNvSpPr txBox="1"/>
          <p:nvPr/>
        </p:nvSpPr>
        <p:spPr>
          <a:xfrm>
            <a:off x="171450" y="2209524"/>
            <a:ext cx="88011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Goto </a:t>
            </a:r>
            <a:r>
              <a:rPr lang="en-US" sz="2400" dirty="0" err="1"/>
              <a:t>nextjs</a:t>
            </a:r>
            <a:r>
              <a:rPr lang="en-US" sz="2400" dirty="0"/>
              <a:t> project and open the </a:t>
            </a:r>
            <a:r>
              <a:rPr lang="en-US" sz="2400" dirty="0" err="1"/>
              <a:t>cmd</a:t>
            </a:r>
            <a:r>
              <a:rPr lang="en-US" sz="2400" dirty="0"/>
              <a:t> write following commands;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>
                <a:highlight>
                  <a:srgbClr val="FFFF00"/>
                </a:highlight>
              </a:rPr>
              <a:t>npm</a:t>
            </a:r>
            <a:r>
              <a:rPr lang="en-US" sz="2400" dirty="0">
                <a:highlight>
                  <a:srgbClr val="FFFF00"/>
                </a:highlight>
              </a:rPr>
              <a:t> install -D </a:t>
            </a:r>
            <a:r>
              <a:rPr lang="en-US" sz="2400" dirty="0" err="1">
                <a:highlight>
                  <a:srgbClr val="FFFF00"/>
                </a:highlight>
              </a:rPr>
              <a:t>tailwindcss</a:t>
            </a:r>
            <a:r>
              <a:rPr lang="en-US" sz="2400" dirty="0">
                <a:highlight>
                  <a:srgbClr val="FFFF00"/>
                </a:highlight>
              </a:rPr>
              <a:t> </a:t>
            </a:r>
            <a:r>
              <a:rPr lang="en-US" sz="2400" dirty="0" err="1">
                <a:highlight>
                  <a:srgbClr val="FFFF00"/>
                </a:highlight>
              </a:rPr>
              <a:t>postcss</a:t>
            </a:r>
            <a:r>
              <a:rPr lang="en-US" sz="2400" dirty="0">
                <a:highlight>
                  <a:srgbClr val="FFFF00"/>
                </a:highlight>
              </a:rPr>
              <a:t> </a:t>
            </a:r>
            <a:r>
              <a:rPr lang="en-US" sz="2400" dirty="0" err="1">
                <a:highlight>
                  <a:srgbClr val="FFFF00"/>
                </a:highlight>
              </a:rPr>
              <a:t>autoprefixer</a:t>
            </a:r>
            <a:endParaRPr lang="en-US" sz="2400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sz="24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2400" dirty="0" err="1">
                <a:highlight>
                  <a:srgbClr val="FFFF00"/>
                </a:highlight>
              </a:rPr>
              <a:t>npx</a:t>
            </a:r>
            <a:r>
              <a:rPr lang="en-US" sz="2400" dirty="0">
                <a:highlight>
                  <a:srgbClr val="FFFF00"/>
                </a:highlight>
              </a:rPr>
              <a:t> </a:t>
            </a:r>
            <a:r>
              <a:rPr lang="en-US" sz="2400" dirty="0" err="1">
                <a:highlight>
                  <a:srgbClr val="FFFF00"/>
                </a:highlight>
              </a:rPr>
              <a:t>tailwindcss</a:t>
            </a:r>
            <a:r>
              <a:rPr lang="en-US" sz="2400" dirty="0">
                <a:highlight>
                  <a:srgbClr val="FFFF00"/>
                </a:highlight>
              </a:rPr>
              <a:t> </a:t>
            </a:r>
            <a:r>
              <a:rPr lang="en-US" sz="2400" dirty="0" err="1">
                <a:highlight>
                  <a:srgbClr val="FFFF00"/>
                </a:highlight>
              </a:rPr>
              <a:t>init</a:t>
            </a:r>
            <a:r>
              <a:rPr lang="en-US" sz="2400" dirty="0">
                <a:highlight>
                  <a:srgbClr val="FFFF00"/>
                </a:highlight>
              </a:rPr>
              <a:t> -p </a:t>
            </a:r>
          </a:p>
        </p:txBody>
      </p:sp>
    </p:spTree>
    <p:extLst>
      <p:ext uri="{BB962C8B-B14F-4D97-AF65-F5344CB8AC3E}">
        <p14:creationId xmlns:p14="http://schemas.microsoft.com/office/powerpoint/2010/main" val="3751441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Configure Project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30EF9C-5640-4CAF-32A5-371B962F0E31}"/>
              </a:ext>
            </a:extLst>
          </p:cNvPr>
          <p:cNvSpPr txBox="1"/>
          <p:nvPr/>
        </p:nvSpPr>
        <p:spPr>
          <a:xfrm>
            <a:off x="202367" y="2007805"/>
            <a:ext cx="8626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en-US" sz="2400" dirty="0"/>
              <a:t>Add the paths to all of your template files in your </a:t>
            </a:r>
            <a:r>
              <a:rPr lang="en-US" sz="2400" b="1" dirty="0"/>
              <a:t>tailwind.config.js </a:t>
            </a:r>
            <a:r>
              <a:rPr lang="en-US" sz="2400" dirty="0"/>
              <a:t>file.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94B582-D330-11FB-D36A-FADEC691E270}"/>
              </a:ext>
            </a:extLst>
          </p:cNvPr>
          <p:cNvSpPr txBox="1"/>
          <p:nvPr/>
        </p:nvSpPr>
        <p:spPr>
          <a:xfrm>
            <a:off x="667062" y="2883772"/>
            <a:ext cx="7697449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/**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@type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{import('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tailwindcss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').Config}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exports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content: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"./app/**/*.{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js,ts,jsx,tsx,mdx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"./pages/**/*.{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js,ts,jsx,tsx,mdx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"./components/**/*.{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js,ts,jsx,tsx,mdx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],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theme: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extend: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{},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plugins: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[],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57866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Configure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CFF63-E690-7958-6E00-0B6FEC03D946}"/>
              </a:ext>
            </a:extLst>
          </p:cNvPr>
          <p:cNvSpPr txBox="1">
            <a:spLocks/>
          </p:cNvSpPr>
          <p:nvPr/>
        </p:nvSpPr>
        <p:spPr>
          <a:xfrm>
            <a:off x="1121587" y="2258412"/>
            <a:ext cx="6666833" cy="27587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76072">
              <a:spcBef>
                <a:spcPts val="630"/>
              </a:spcBef>
            </a:pPr>
            <a:r>
              <a:rPr lang="en-US" sz="1764" dirty="0">
                <a:solidFill>
                  <a:schemeClr val="tx1"/>
                </a:solidFill>
                <a:latin typeface="+mn-lt"/>
              </a:rPr>
              <a:t>Open the ‘global.css’ file and add following directives on the top of the file</a:t>
            </a:r>
          </a:p>
          <a:p>
            <a:pPr defTabSz="576072">
              <a:spcBef>
                <a:spcPts val="630"/>
              </a:spcBef>
            </a:pPr>
            <a:endParaRPr lang="en-US" sz="1764" dirty="0">
              <a:solidFill>
                <a:schemeClr val="tx1"/>
              </a:solidFill>
              <a:latin typeface="+mn-lt"/>
            </a:endParaRPr>
          </a:p>
          <a:p>
            <a:pPr defTabSz="576072">
              <a:spcBef>
                <a:spcPts val="630"/>
              </a:spcBef>
            </a:pPr>
            <a:endParaRPr lang="en-US" sz="1764" dirty="0"/>
          </a:p>
          <a:p>
            <a:pPr defTabSz="576072">
              <a:spcBef>
                <a:spcPts val="630"/>
              </a:spcBef>
            </a:pPr>
            <a:endParaRPr lang="en-US" sz="1764" dirty="0">
              <a:solidFill>
                <a:schemeClr val="tx1"/>
              </a:solidFill>
              <a:latin typeface="+mn-lt"/>
            </a:endParaRPr>
          </a:p>
          <a:p>
            <a:pPr defTabSz="576072">
              <a:spcBef>
                <a:spcPts val="630"/>
              </a:spcBef>
            </a:pPr>
            <a:endParaRPr lang="en-US" sz="1764" dirty="0">
              <a:solidFill>
                <a:schemeClr val="tx1"/>
              </a:solidFill>
              <a:latin typeface="+mn-lt"/>
            </a:endParaRPr>
          </a:p>
          <a:p>
            <a:pPr defTabSz="576072">
              <a:spcBef>
                <a:spcPts val="630"/>
              </a:spcBef>
            </a:pPr>
            <a:endParaRPr lang="en-US" sz="1764" dirty="0">
              <a:solidFill>
                <a:schemeClr val="tx1"/>
              </a:solidFill>
              <a:latin typeface="+mn-lt"/>
            </a:endParaRPr>
          </a:p>
          <a:p>
            <a:pPr defTabSz="576072">
              <a:spcBef>
                <a:spcPts val="630"/>
              </a:spcBef>
            </a:pPr>
            <a:r>
              <a:rPr lang="en-US" sz="1764" dirty="0">
                <a:solidFill>
                  <a:schemeClr val="tx1"/>
                </a:solidFill>
                <a:latin typeface="+mn-lt"/>
              </a:rPr>
              <a:t>Import Tailwind CSS in your </a:t>
            </a:r>
            <a:r>
              <a:rPr lang="en-US" sz="1764" b="1" dirty="0">
                <a:solidFill>
                  <a:schemeClr val="tx1"/>
                </a:solidFill>
                <a:latin typeface="+mn-lt"/>
              </a:rPr>
              <a:t>pages/_app.js </a:t>
            </a:r>
            <a:r>
              <a:rPr lang="en-US" sz="1764" dirty="0">
                <a:solidFill>
                  <a:schemeClr val="tx1"/>
                </a:solidFill>
                <a:latin typeface="+mn-lt"/>
              </a:rPr>
              <a:t>file. You can do this by adding the following code to your _app.js file:</a:t>
            </a:r>
          </a:p>
          <a:p>
            <a:pPr defTabSz="576072">
              <a:spcBef>
                <a:spcPts val="630"/>
              </a:spcBef>
            </a:pPr>
            <a:endParaRPr lang="en-US" sz="1764" dirty="0">
              <a:solidFill>
                <a:schemeClr val="tx1"/>
              </a:solidFill>
              <a:latin typeface="+mn-lt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1374F7-3AEC-5AAF-6404-0C32DDEF423F}"/>
              </a:ext>
            </a:extLst>
          </p:cNvPr>
          <p:cNvSpPr txBox="1"/>
          <p:nvPr/>
        </p:nvSpPr>
        <p:spPr>
          <a:xfrm>
            <a:off x="1544061" y="5547787"/>
            <a:ext cx="5041847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76072">
              <a:spcAft>
                <a:spcPts val="600"/>
              </a:spcAft>
            </a:pPr>
            <a:r>
              <a:rPr lang="en-US" sz="2016" kern="1200" dirty="0">
                <a:solidFill>
                  <a:srgbClr val="AF00DB"/>
                </a:solidFill>
                <a:latin typeface="Consolas" panose="020B0609020204030204" pitchFamily="49" charset="0"/>
                <a:ea typeface="+mn-ea"/>
                <a:cs typeface="+mn-cs"/>
              </a:rPr>
              <a:t>import</a:t>
            </a:r>
            <a:r>
              <a:rPr lang="en-US" sz="2016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sz="2016" kern="1200" dirty="0">
                <a:solidFill>
                  <a:srgbClr val="A31515"/>
                </a:solidFill>
                <a:latin typeface="Consolas" panose="020B0609020204030204" pitchFamily="49" charset="0"/>
                <a:ea typeface="+mn-ea"/>
                <a:cs typeface="+mn-cs"/>
              </a:rPr>
              <a:t>'../styles/globals.css'</a:t>
            </a:r>
            <a:r>
              <a:rPr lang="en-US" sz="2016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;</a:t>
            </a:r>
            <a:endParaRPr lang="en-US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F7D1F-DF96-3AC6-037D-6D978DD3F9A6}"/>
              </a:ext>
            </a:extLst>
          </p:cNvPr>
          <p:cNvSpPr txBox="1"/>
          <p:nvPr/>
        </p:nvSpPr>
        <p:spPr>
          <a:xfrm>
            <a:off x="1544061" y="2964279"/>
            <a:ext cx="386483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76072">
              <a:spcAft>
                <a:spcPts val="600"/>
              </a:spcAft>
            </a:pPr>
            <a:r>
              <a:rPr lang="en-US" kern="1200" dirty="0">
                <a:solidFill>
                  <a:srgbClr val="AF00DB"/>
                </a:solidFill>
                <a:latin typeface="Consolas" panose="020B0609020204030204" pitchFamily="49" charset="0"/>
                <a:ea typeface="+mn-ea"/>
                <a:cs typeface="+mn-cs"/>
              </a:rPr>
              <a:t>@tailwind</a:t>
            </a:r>
            <a:r>
              <a:rPr lang="en-US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001080"/>
                </a:solidFill>
                <a:latin typeface="Consolas" panose="020B0609020204030204" pitchFamily="49" charset="0"/>
                <a:ea typeface="+mn-ea"/>
                <a:cs typeface="+mn-cs"/>
              </a:rPr>
              <a:t>base</a:t>
            </a:r>
            <a:r>
              <a:rPr lang="en-US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defTabSz="576072">
              <a:spcAft>
                <a:spcPts val="600"/>
              </a:spcAft>
            </a:pPr>
            <a:r>
              <a:rPr lang="en-US" kern="1200" dirty="0">
                <a:solidFill>
                  <a:srgbClr val="AF00DB"/>
                </a:solidFill>
                <a:latin typeface="Consolas" panose="020B0609020204030204" pitchFamily="49" charset="0"/>
                <a:ea typeface="+mn-ea"/>
                <a:cs typeface="+mn-cs"/>
              </a:rPr>
              <a:t>@tailwind</a:t>
            </a:r>
            <a:r>
              <a:rPr lang="en-US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001080"/>
                </a:solidFill>
                <a:latin typeface="Consolas" panose="020B0609020204030204" pitchFamily="49" charset="0"/>
                <a:ea typeface="+mn-ea"/>
                <a:cs typeface="+mn-cs"/>
              </a:rPr>
              <a:t>components</a:t>
            </a:r>
            <a:r>
              <a:rPr lang="en-US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defTabSz="576072">
              <a:spcAft>
                <a:spcPts val="600"/>
              </a:spcAft>
            </a:pPr>
            <a:r>
              <a:rPr lang="en-US" kern="1200" dirty="0">
                <a:solidFill>
                  <a:srgbClr val="AF00DB"/>
                </a:solidFill>
                <a:latin typeface="Consolas" panose="020B0609020204030204" pitchFamily="49" charset="0"/>
                <a:ea typeface="+mn-ea"/>
                <a:cs typeface="+mn-cs"/>
              </a:rPr>
              <a:t>@tailwind</a:t>
            </a:r>
            <a:r>
              <a:rPr lang="en-US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rgbClr val="001080"/>
                </a:solidFill>
                <a:latin typeface="Consolas" panose="020B0609020204030204" pitchFamily="49" charset="0"/>
                <a:ea typeface="+mn-ea"/>
                <a:cs typeface="+mn-cs"/>
              </a:rPr>
              <a:t>utilities</a:t>
            </a:r>
            <a:r>
              <a:rPr lang="en-US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defTabSz="576072">
              <a:spcAft>
                <a:spcPts val="600"/>
              </a:spcAft>
            </a:pPr>
            <a:br>
              <a:rPr lang="en-US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200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Using </a:t>
            </a:r>
            <a:r>
              <a:rPr lang="en-US" sz="4400" dirty="0" err="1"/>
              <a:t>TailWindCSS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E7652-DC46-16FD-4BD5-D91CDAE17E2C}"/>
              </a:ext>
            </a:extLst>
          </p:cNvPr>
          <p:cNvSpPr txBox="1">
            <a:spLocks/>
          </p:cNvSpPr>
          <p:nvPr/>
        </p:nvSpPr>
        <p:spPr>
          <a:xfrm>
            <a:off x="0" y="2310445"/>
            <a:ext cx="9356107" cy="3871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1168" indent="-201168" defTabSz="804672">
              <a:spcBef>
                <a:spcPts val="880"/>
              </a:spcBef>
            </a:pPr>
            <a:r>
              <a:rPr lang="en-US" sz="2464">
                <a:solidFill>
                  <a:schemeClr val="tx1"/>
                </a:solidFill>
                <a:latin typeface="+mn-lt"/>
              </a:rPr>
              <a:t>To use Tailwind CSS classes in your components. You can now use Tailwind CSS classes in your Next.js components, like this: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84DB6-0BC7-3096-DF6D-693DFA105739}"/>
              </a:ext>
            </a:extLst>
          </p:cNvPr>
          <p:cNvSpPr txBox="1"/>
          <p:nvPr/>
        </p:nvSpPr>
        <p:spPr>
          <a:xfrm>
            <a:off x="265027" y="3103468"/>
            <a:ext cx="8517879" cy="2858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04672">
              <a:spcAft>
                <a:spcPts val="600"/>
              </a:spcAft>
            </a:pPr>
            <a:r>
              <a:rPr lang="en-US" sz="1584" kern="1200" dirty="0">
                <a:solidFill>
                  <a:srgbClr val="0000FF"/>
                </a:solidFill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sz="1584" kern="1200" dirty="0" err="1">
                <a:solidFill>
                  <a:srgbClr val="795E26"/>
                </a:solidFill>
                <a:latin typeface="Consolas" panose="020B0609020204030204" pitchFamily="49" charset="0"/>
                <a:ea typeface="+mn-ea"/>
                <a:cs typeface="+mn-cs"/>
              </a:rPr>
              <a:t>MyComponent</a:t>
            </a: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() {</a:t>
            </a:r>
          </a:p>
          <a:p>
            <a:pPr defTabSz="804672">
              <a:spcAft>
                <a:spcPts val="600"/>
              </a:spcAft>
            </a:pP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lang="en-US" sz="1584" kern="1200" dirty="0">
                <a:solidFill>
                  <a:srgbClr val="AF00DB"/>
                </a:solidFill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defTabSz="804672">
              <a:spcAft>
                <a:spcPts val="600"/>
              </a:spcAft>
            </a:pP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lang="en-US" sz="1584" kern="1200" dirty="0">
                <a:solidFill>
                  <a:srgbClr val="800000"/>
                </a:solidFill>
                <a:latin typeface="Consolas" panose="020B0609020204030204" pitchFamily="49" charset="0"/>
                <a:ea typeface="+mn-ea"/>
                <a:cs typeface="+mn-cs"/>
              </a:rPr>
              <a:t>&lt;div</a:t>
            </a: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sz="1584" kern="1200" dirty="0" err="1">
                <a:solidFill>
                  <a:srgbClr val="E50000"/>
                </a:solidFill>
                <a:latin typeface="Consolas" panose="020B0609020204030204" pitchFamily="49" charset="0"/>
                <a:ea typeface="+mn-ea"/>
                <a:cs typeface="+mn-cs"/>
              </a:rPr>
              <a:t>className</a:t>
            </a: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lang="en-US" sz="1584" kern="1200" dirty="0">
                <a:solidFill>
                  <a:srgbClr val="A31515"/>
                </a:solidFill>
                <a:latin typeface="Consolas" panose="020B0609020204030204" pitchFamily="49" charset="0"/>
                <a:ea typeface="+mn-ea"/>
                <a:cs typeface="+mn-cs"/>
              </a:rPr>
              <a:t>"bg-blue-500 text-white p-4"</a:t>
            </a:r>
            <a:r>
              <a:rPr lang="en-US" sz="1584" kern="1200" dirty="0">
                <a:solidFill>
                  <a:srgbClr val="800000"/>
                </a:solidFill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lang="en-US" sz="1584" kern="1200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+mn-cs"/>
            </a:endParaRPr>
          </a:p>
          <a:p>
            <a:pPr defTabSz="804672">
              <a:spcAft>
                <a:spcPts val="600"/>
              </a:spcAft>
            </a:pP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      This is my component!</a:t>
            </a:r>
          </a:p>
          <a:p>
            <a:pPr defTabSz="804672">
              <a:spcAft>
                <a:spcPts val="600"/>
              </a:spcAft>
            </a:pP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lang="en-US" sz="1584" kern="1200" dirty="0">
                <a:solidFill>
                  <a:srgbClr val="800000"/>
                </a:solidFill>
                <a:latin typeface="Consolas" panose="020B0609020204030204" pitchFamily="49" charset="0"/>
                <a:ea typeface="+mn-ea"/>
                <a:cs typeface="+mn-cs"/>
              </a:rPr>
              <a:t>&lt;/div&gt;</a:t>
            </a:r>
            <a:endParaRPr lang="en-US" sz="1584" kern="1200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+mn-cs"/>
            </a:endParaRPr>
          </a:p>
          <a:p>
            <a:pPr defTabSz="804672">
              <a:spcAft>
                <a:spcPts val="600"/>
              </a:spcAft>
            </a:pP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  )</a:t>
            </a:r>
          </a:p>
          <a:p>
            <a:pPr defTabSz="804672">
              <a:spcAft>
                <a:spcPts val="600"/>
              </a:spcAft>
            </a:pPr>
            <a: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defTabSz="804672">
              <a:spcAft>
                <a:spcPts val="600"/>
              </a:spcAft>
            </a:pPr>
            <a:br>
              <a:rPr lang="en-US" sz="1584" kern="12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+mn-cs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2D213F0-19CE-C815-C297-8F22A716F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027" y="5412245"/>
            <a:ext cx="8517879" cy="12322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804672">
              <a:spcAft>
                <a:spcPts val="600"/>
              </a:spcAft>
            </a:pPr>
            <a:r>
              <a:rPr lang="en-US" altLang="en-US" sz="246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will apply the bg-blue-500, text-white, and p-4 classes from Tailwind CSS to your component, which will set the background color, text color, and padding, respectively. </a:t>
            </a:r>
            <a:endParaRPr lang="en-US" altLang="en-US" sz="28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0878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FFFF"/>
                </a:solidFill>
              </a:rPr>
              <a:t>Tailwind Documentation 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020F9-56C7-CED2-4724-2399D9297828}"/>
              </a:ext>
            </a:extLst>
          </p:cNvPr>
          <p:cNvSpPr txBox="1"/>
          <p:nvPr/>
        </p:nvSpPr>
        <p:spPr>
          <a:xfrm>
            <a:off x="326571" y="2172450"/>
            <a:ext cx="77567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official Tailwind CSS documentation provides a comprehensive list of classes and their corresponding CSS properties.</a:t>
            </a:r>
          </a:p>
          <a:p>
            <a:pPr marL="0" indent="0">
              <a:buNone/>
            </a:pPr>
            <a:r>
              <a:rPr lang="en-US" sz="2000" dirty="0">
                <a:hlinkClick r:id="rId2"/>
              </a:rPr>
              <a:t>https://tailwindcss.com/docs/preflight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60422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FFFF"/>
                </a:solidFill>
              </a:rPr>
              <a:t>Tailwind Resources 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020F9-56C7-CED2-4724-2399D9297828}"/>
              </a:ext>
            </a:extLst>
          </p:cNvPr>
          <p:cNvSpPr txBox="1"/>
          <p:nvPr/>
        </p:nvSpPr>
        <p:spPr>
          <a:xfrm>
            <a:off x="326571" y="2172450"/>
            <a:ext cx="775678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ea typeface="+mj-ea"/>
                <a:cs typeface="+mj-cs"/>
              </a:rPr>
              <a:t>Following </a:t>
            </a:r>
            <a:r>
              <a:rPr lang="en-US" sz="2000" b="1" dirty="0">
                <a:ea typeface="+mj-ea"/>
                <a:cs typeface="+mj-cs"/>
              </a:rPr>
              <a:t>plugins</a:t>
            </a:r>
            <a:r>
              <a:rPr lang="en-US" sz="2000" dirty="0">
                <a:ea typeface="+mj-ea"/>
                <a:cs typeface="+mj-cs"/>
              </a:rPr>
              <a:t> provide examples to create different templates in short time </a:t>
            </a:r>
            <a:endParaRPr lang="en-US" sz="2000" dirty="0">
              <a:ea typeface="+mj-ea"/>
              <a:cs typeface="+mj-cs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sz="2000" dirty="0"/>
          </a:p>
          <a:p>
            <a:r>
              <a:rPr lang="en-US" sz="2000" dirty="0">
                <a:hlinkClick r:id="rId3"/>
              </a:rPr>
              <a:t>https://daisyui.</a:t>
            </a:r>
            <a:r>
              <a:rPr lang="en-US" sz="2000">
                <a:hlinkClick r:id="rId3"/>
              </a:rPr>
              <a:t>com/</a:t>
            </a:r>
            <a:endParaRPr lang="en-US" sz="2000" dirty="0"/>
          </a:p>
          <a:p>
            <a:r>
              <a:rPr lang="en-US" sz="2000" dirty="0">
                <a:hlinkClick r:id="rId2"/>
              </a:rPr>
              <a:t>https://tailblocks.cc/</a:t>
            </a:r>
            <a:endParaRPr lang="en-US" sz="2000" dirty="0"/>
          </a:p>
          <a:p>
            <a:r>
              <a:rPr lang="en-US" sz="2000" dirty="0">
                <a:hlinkClick r:id="rId4"/>
              </a:rPr>
              <a:t>https://flowbite.com/</a:t>
            </a:r>
            <a:endParaRPr lang="en-US" sz="2000" dirty="0"/>
          </a:p>
          <a:p>
            <a:r>
              <a:rPr lang="en-US" sz="2000" dirty="0">
                <a:hlinkClick r:id="rId5"/>
              </a:rPr>
              <a:t>https://tailwind-elements.com/docs/standard/designblocks/landing-page/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95787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>
                <a:solidFill>
                  <a:schemeClr val="tx1"/>
                </a:solidFill>
                <a:latin typeface="Cambria" panose="020405030504060302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06994" y="1939139"/>
            <a:ext cx="804111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W3Schools Online Web Tutorials, URL: </a:t>
            </a:r>
            <a:r>
              <a:rPr lang="en-US" sz="18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hlinkClick r:id="rId2"/>
              </a:rPr>
              <a:t>http://www.w3schools.com</a:t>
            </a:r>
            <a:endParaRPr lang="en-US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Next.js, URL: </a:t>
            </a:r>
            <a:r>
              <a:rPr lang="en-US" dirty="0">
                <a:hlinkClick r:id="rId3"/>
              </a:rPr>
              <a:t>https://nextjs.org/</a:t>
            </a:r>
            <a:endParaRPr lang="en-US" dirty="0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</a:rPr>
              <a:t>Mozilla Developer Networks, URL: </a:t>
            </a:r>
            <a:r>
              <a:rPr lang="en-US" dirty="0">
                <a:hlinkClick r:id="rId4"/>
              </a:rPr>
              <a:t>https://developer.mozilla.org/</a:t>
            </a:r>
            <a:endParaRPr lang="en-US" dirty="0"/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</a:rPr>
              <a:t>Tailwind CSS Documentation, URL: </a:t>
            </a:r>
            <a:r>
              <a:rPr lang="en-US" sz="1800" dirty="0">
                <a:hlinkClick r:id="rId5"/>
              </a:rPr>
              <a:t>https://tailwindcss.com/docs/installation</a:t>
            </a:r>
            <a:endParaRPr lang="en-US" sz="1800" dirty="0"/>
          </a:p>
          <a:p>
            <a:pPr>
              <a:tabLst>
                <a:tab pos="457200" algn="l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3062145" y="3429000"/>
            <a:ext cx="2641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endParaRPr lang="x-none" sz="4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729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1135</TotalTime>
  <Words>634</Words>
  <Application>Microsoft Office PowerPoint</Application>
  <PresentationFormat>On-screen Show (4:3)</PresentationFormat>
  <Paragraphs>93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Spectrum</vt:lpstr>
      <vt:lpstr>TailWind CSS</vt:lpstr>
      <vt:lpstr>Lecture Outline</vt:lpstr>
      <vt:lpstr>Tailwind CSS </vt:lpstr>
      <vt:lpstr>Key Features of Tailwind</vt:lpstr>
      <vt:lpstr>Installation</vt:lpstr>
      <vt:lpstr>Configure Project</vt:lpstr>
      <vt:lpstr>Configure Project</vt:lpstr>
      <vt:lpstr>Using TailWindCSS</vt:lpstr>
      <vt:lpstr>Tailwind Documentation </vt:lpstr>
      <vt:lpstr>Tailwind Resources 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3NP_Materials</dc:title>
  <dc:creator>Sazzad Hossain</dc:creator>
  <cp:lastModifiedBy>Sazzad Hossain</cp:lastModifiedBy>
  <cp:revision>377</cp:revision>
  <dcterms:created xsi:type="dcterms:W3CDTF">2018-12-10T17:20:29Z</dcterms:created>
  <dcterms:modified xsi:type="dcterms:W3CDTF">2024-05-07T18:45:09Z</dcterms:modified>
</cp:coreProperties>
</file>