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320" r:id="rId5"/>
    <p:sldId id="321" r:id="rId6"/>
    <p:sldId id="294" r:id="rId7"/>
    <p:sldId id="323" r:id="rId8"/>
    <p:sldId id="296" r:id="rId9"/>
    <p:sldId id="312" r:id="rId10"/>
    <p:sldId id="322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1" autoAdjust="0"/>
    <p:restoredTop sz="93969" autoAdjust="0"/>
  </p:normalViewPr>
  <p:slideViewPr>
    <p:cSldViewPr snapToGrid="0">
      <p:cViewPr>
        <p:scale>
          <a:sx n="114" d="100"/>
          <a:sy n="114" d="100"/>
        </p:scale>
        <p:origin x="-132" y="-14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Learn/Forms/Form_validation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zod.dev/" TargetMode="External"/><Relationship Id="rId2" Type="http://schemas.openxmlformats.org/officeDocument/2006/relationships/hyperlink" Target="https://react-hook-form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Form Validation and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51681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11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 Form Validation in Next.js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 HTML form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Vanilla JS Form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External Libraries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Logical AND (&amp;&amp;)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Redirecting using </a:t>
            </a:r>
            <a:r>
              <a:rPr lang="en-US" dirty="0" err="1">
                <a:solidFill>
                  <a:schemeClr val="tx1"/>
                </a:solidFill>
              </a:rPr>
              <a:t>useRouter</a:t>
            </a:r>
            <a:r>
              <a:rPr lang="en-US" dirty="0">
                <a:solidFill>
                  <a:schemeClr val="tx1"/>
                </a:solidFill>
              </a:rPr>
              <a:t>() Hook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 Form Validation in Next.js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2509" y="2071760"/>
            <a:ext cx="8811491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Form validation is the process of ensuring that user inputs are accurate</a:t>
            </a:r>
            <a:r>
              <a:rPr lang="en-US" sz="2400" dirty="0"/>
              <a:t> and</a:t>
            </a:r>
            <a:r>
              <a:rPr lang="en-US" sz="2400" b="0" i="0" dirty="0">
                <a:effectLst/>
              </a:rPr>
              <a:t> complete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b="0" i="0" dirty="0">
                <a:effectLst/>
              </a:rPr>
              <a:t>onfirm to the required format before submitting the form.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 helps prevent invalid data from being submitted to the server.</a:t>
            </a:r>
            <a:endParaRPr lang="en-US" sz="24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Next.js supports built-in HTML form validation attributes like "required," "type," and "pattern“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Vanilla JavaScript can be used to implement custom validation logic.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 HTML form validation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6042D-5368-8C1F-0FFA-9432BF298CB3}"/>
              </a:ext>
            </a:extLst>
          </p:cNvPr>
          <p:cNvSpPr txBox="1"/>
          <p:nvPr/>
        </p:nvSpPr>
        <p:spPr>
          <a:xfrm>
            <a:off x="296650" y="2009529"/>
            <a:ext cx="5369859" cy="48484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()  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 submitted successfully!'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Form Validation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Password: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minLength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088724-E5BA-302E-5007-34B442CB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548" y="2172711"/>
            <a:ext cx="3643746" cy="3170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required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Ensures the field must be filled out before submitting the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type="email"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Validates that the email input follows the correct email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minLength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="8"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Specifies that the password must be at least 8 characters long.</a:t>
            </a:r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 HTML form validation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7BC63-60D2-55FD-8646-B491C3DCA0C2}"/>
              </a:ext>
            </a:extLst>
          </p:cNvPr>
          <p:cNvSpPr txBox="1"/>
          <p:nvPr/>
        </p:nvSpPr>
        <p:spPr>
          <a:xfrm>
            <a:off x="332509" y="2071760"/>
            <a:ext cx="8811491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Full guide of HTML built in Validation can be found here;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>
                <a:hlinkClick r:id="rId2"/>
              </a:rPr>
              <a:t>https://developer.mozilla.org/en-US/docs/Learn/Forms/Form_validation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Vanilla JS Form Validation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77C6B-5C89-5D01-26EA-0F923219456C}"/>
              </a:ext>
            </a:extLst>
          </p:cNvPr>
          <p:cNvSpPr txBox="1"/>
          <p:nvPr/>
        </p:nvSpPr>
        <p:spPr>
          <a:xfrm>
            <a:off x="277089" y="1966631"/>
            <a:ext cx="4585855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"./Layout/layout"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"./Layout/title"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setEmail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password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setPassword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setError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handleChangePassword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setPassword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Perform form validation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 and password are required'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isValidEmail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'Invalid email address'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setEmail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setPassword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8F8E2-8E57-54AD-8C9A-4091E93AAA2C}"/>
              </a:ext>
            </a:extLst>
          </p:cNvPr>
          <p:cNvSpPr txBox="1"/>
          <p:nvPr/>
        </p:nvSpPr>
        <p:spPr>
          <a:xfrm>
            <a:off x="4516580" y="1966631"/>
            <a:ext cx="4793673" cy="4939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isValidEmail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emailPattern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</a:t>
            </a:r>
            <a:r>
              <a:rPr lang="en-US" sz="900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^</a:t>
            </a:r>
            <a:r>
              <a:rPr lang="en-US" sz="900" b="0" dirty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\S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@\S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\.</a:t>
            </a:r>
            <a:r>
              <a:rPr lang="en-US" sz="900" b="0" dirty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\S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</a:t>
            </a:r>
            <a:r>
              <a:rPr lang="en-US" sz="900" b="0" dirty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emailPattern</a:t>
            </a:r>
            <a:r>
              <a:rPr lang="en-US" sz="900" b="0" dirty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test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</a:t>
            </a:r>
            <a:r>
              <a:rPr lang="en-US" sz="900" b="0" dirty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&lt;form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onSubmit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handleSubmit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r>
              <a:rPr lang="en-US" sz="900" b="0" dirty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9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onChange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handleChangeEmail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endParaRPr lang="en-US" sz="900" b="0" dirty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9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onChange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dirty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handleChangePassword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endParaRPr lang="en-US" sz="900" b="0" dirty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{</a:t>
            </a:r>
            <a:r>
              <a:rPr lang="en-US" sz="9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&amp;&amp; </a:t>
            </a:r>
            <a:r>
              <a:rPr lang="en-US" sz="900" b="0" dirty="0">
                <a:solidFill>
                  <a:srgbClr val="8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&lt;p&gt;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{</a:t>
            </a:r>
            <a:r>
              <a:rPr lang="en-US" sz="9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r>
              <a:rPr lang="en-US" sz="900" b="0" dirty="0">
                <a:solidFill>
                  <a:srgbClr val="8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&lt;/p&gt;</a:t>
            </a:r>
            <a:r>
              <a:rPr lang="en-US" sz="9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endParaRPr lang="en-US" sz="900" b="0" dirty="0">
              <a:solidFill>
                <a:srgbClr val="3B3B3B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);};</a:t>
            </a: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Logical AND (&amp;&amp;)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AC1E1-6C1F-5458-3BA1-446D999F0E9A}"/>
              </a:ext>
            </a:extLst>
          </p:cNvPr>
          <p:cNvSpPr txBox="1"/>
          <p:nvPr/>
        </p:nvSpPr>
        <p:spPr>
          <a:xfrm>
            <a:off x="261256" y="2094050"/>
            <a:ext cx="8539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logical AND (&amp;&amp;) </a:t>
            </a:r>
            <a:r>
              <a:rPr lang="en-US" sz="2400" dirty="0"/>
              <a:t>(logical conjunction) operator for a set of </a:t>
            </a:r>
            <a:r>
              <a:rPr lang="en-US" sz="2400" dirty="0" err="1"/>
              <a:t>boolean</a:t>
            </a:r>
            <a:r>
              <a:rPr lang="en-US" sz="2400" dirty="0"/>
              <a:t> operands will be </a:t>
            </a:r>
            <a:r>
              <a:rPr lang="en-US" sz="2400" b="1" dirty="0"/>
              <a:t>true if and only if all the operands are true</a:t>
            </a:r>
            <a:r>
              <a:rPr lang="en-US" sz="2400" dirty="0"/>
              <a:t>. Otherwise it will be false.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8AFF2-87DE-A341-A717-194E305A0C86}"/>
              </a:ext>
            </a:extLst>
          </p:cNvPr>
          <p:cNvSpPr txBox="1"/>
          <p:nvPr/>
        </p:nvSpPr>
        <p:spPr>
          <a:xfrm>
            <a:off x="2286000" y="3563622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What is the output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07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External Libraries for Form Validation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155370"/>
            <a:ext cx="8880762" cy="25031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 i="0" dirty="0">
                <a:effectLst/>
              </a:rPr>
              <a:t>Following are some external libraries for Form validation </a:t>
            </a:r>
          </a:p>
          <a:p>
            <a:r>
              <a:rPr lang="en-US" sz="2400" b="1" i="0" dirty="0">
                <a:effectLst/>
                <a:hlinkClick r:id="rId2"/>
              </a:rPr>
              <a:t>React Hook Form (</a:t>
            </a:r>
            <a:r>
              <a:rPr lang="en-US" sz="2400" b="1" i="0" dirty="0" err="1">
                <a:effectLst/>
                <a:hlinkClick r:id="rId2"/>
              </a:rPr>
              <a:t>useForm</a:t>
            </a:r>
            <a:r>
              <a:rPr lang="en-US" sz="2400" b="1" i="0" dirty="0">
                <a:effectLst/>
                <a:hlinkClick r:id="rId2"/>
              </a:rPr>
              <a:t>)</a:t>
            </a:r>
            <a:endParaRPr lang="en-US" sz="2400" b="1" i="0" dirty="0">
              <a:effectLst/>
            </a:endParaRPr>
          </a:p>
          <a:p>
            <a:r>
              <a:rPr lang="en-US" sz="2400" b="1" i="0" dirty="0">
                <a:effectLst/>
                <a:hlinkClick r:id="rId3"/>
              </a:rPr>
              <a:t>Zod</a:t>
            </a:r>
            <a:endParaRPr lang="en-US" sz="2400" b="1" i="0" dirty="0">
              <a:effectLst/>
            </a:endParaRPr>
          </a:p>
          <a:p>
            <a:r>
              <a:rPr lang="en-US" sz="2400" b="1" i="0" dirty="0" err="1">
                <a:effectLst/>
              </a:rPr>
              <a:t>Formik</a:t>
            </a:r>
            <a:endParaRPr lang="en-US" sz="2400" b="1" i="0" dirty="0">
              <a:effectLst/>
            </a:endParaRPr>
          </a:p>
          <a:p>
            <a:r>
              <a:rPr lang="en-US" sz="2400" b="1" i="0" dirty="0">
                <a:effectLst/>
              </a:rPr>
              <a:t>Yup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Redirecting using </a:t>
            </a:r>
            <a:r>
              <a:rPr lang="en-US" sz="3600" b="1" i="0" dirty="0" err="1">
                <a:solidFill>
                  <a:srgbClr val="FFFFFF"/>
                </a:solidFill>
                <a:effectLst/>
                <a:latin typeface="__Inter_4b5723"/>
              </a:rPr>
              <a:t>useRouter</a:t>
            </a:r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() Hook </a:t>
            </a:r>
            <a:endParaRPr lang="en-US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2" y="2039311"/>
            <a:ext cx="83901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useRouter</a:t>
            </a:r>
            <a:r>
              <a:rPr lang="en-US" sz="2000" dirty="0"/>
              <a:t> </a:t>
            </a:r>
            <a:r>
              <a:rPr lang="en-US" sz="2000" b="1" dirty="0"/>
              <a:t>hook</a:t>
            </a:r>
            <a:r>
              <a:rPr lang="en-US" sz="2000" dirty="0"/>
              <a:t> from </a:t>
            </a:r>
            <a:r>
              <a:rPr lang="en-US" sz="2000" b="1" dirty="0"/>
              <a:t>next/router </a:t>
            </a:r>
            <a:r>
              <a:rPr lang="en-US" sz="2000" dirty="0"/>
              <a:t>to get access to the router object in functional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</a:rPr>
              <a:t>push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 method to navigate to another page on the event.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8A359-BA72-DDC7-100D-9B1222C48C96}"/>
              </a:ext>
            </a:extLst>
          </p:cNvPr>
          <p:cNvSpPr txBox="1"/>
          <p:nvPr/>
        </p:nvSpPr>
        <p:spPr>
          <a:xfrm>
            <a:off x="553318" y="3247900"/>
            <a:ext cx="6436658" cy="28931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'next/router'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MyComponent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'/new-page'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Go to new page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Redirecting using </a:t>
            </a:r>
            <a:r>
              <a:rPr lang="en-US" sz="3600" b="1" i="0" dirty="0" err="1">
                <a:solidFill>
                  <a:srgbClr val="FFFFFF"/>
                </a:solidFill>
                <a:effectLst/>
                <a:latin typeface="__Inter_4b5723"/>
              </a:rPr>
              <a:t>useRouter</a:t>
            </a:r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() Hook </a:t>
            </a:r>
            <a:endParaRPr lang="en-US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2" y="2039311"/>
            <a:ext cx="8390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router.push</a:t>
            </a:r>
            <a:r>
              <a:rPr lang="en-US" sz="2000" b="1" dirty="0"/>
              <a:t> </a:t>
            </a:r>
            <a:r>
              <a:rPr lang="en-US" sz="2000" dirty="0"/>
              <a:t>method to pass query parameters to the new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CF5C3-FA9C-0666-6881-B3F31E1CE4EA}"/>
              </a:ext>
            </a:extLst>
          </p:cNvPr>
          <p:cNvSpPr txBox="1"/>
          <p:nvPr/>
        </p:nvSpPr>
        <p:spPr>
          <a:xfrm>
            <a:off x="755072" y="2474896"/>
            <a:ext cx="7633855" cy="418576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'next/router'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MyComponent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'/new-page/12'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'Source'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Go to new page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289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731</TotalTime>
  <Words>1110</Words>
  <Application>Microsoft Office PowerPoint</Application>
  <PresentationFormat>On-screen Show (4:3)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__Inter_4b5723</vt:lpstr>
      <vt:lpstr>Söhne</vt:lpstr>
      <vt:lpstr>Söhne Mono</vt:lpstr>
      <vt:lpstr>Arial</vt:lpstr>
      <vt:lpstr>Calibri</vt:lpstr>
      <vt:lpstr>Cambria</vt:lpstr>
      <vt:lpstr>Consolas</vt:lpstr>
      <vt:lpstr>Corbel</vt:lpstr>
      <vt:lpstr>Times New Roman</vt:lpstr>
      <vt:lpstr>Wingdings</vt:lpstr>
      <vt:lpstr>Spectrum</vt:lpstr>
      <vt:lpstr>Form Validation and Events</vt:lpstr>
      <vt:lpstr>Lecture Outline</vt:lpstr>
      <vt:lpstr> Form Validation in Next.js</vt:lpstr>
      <vt:lpstr> HTML form validation </vt:lpstr>
      <vt:lpstr> HTML form validation </vt:lpstr>
      <vt:lpstr>Vanilla JS Form Validation </vt:lpstr>
      <vt:lpstr>Logical AND (&amp;&amp;)</vt:lpstr>
      <vt:lpstr>External Libraries for Form Validation</vt:lpstr>
      <vt:lpstr>Redirecting using useRouter() Hook </vt:lpstr>
      <vt:lpstr>Redirecting using useRouter() Hook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303</cp:revision>
  <dcterms:created xsi:type="dcterms:W3CDTF">2018-12-10T17:20:29Z</dcterms:created>
  <dcterms:modified xsi:type="dcterms:W3CDTF">2025-12-24T09:44:13Z</dcterms:modified>
</cp:coreProperties>
</file>